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78" r:id="rId10"/>
    <p:sldId id="288" r:id="rId11"/>
    <p:sldId id="289" r:id="rId12"/>
    <p:sldId id="263" r:id="rId13"/>
    <p:sldId id="290" r:id="rId14"/>
    <p:sldId id="264" r:id="rId15"/>
    <p:sldId id="291" r:id="rId16"/>
    <p:sldId id="287" r:id="rId17"/>
    <p:sldId id="292" r:id="rId18"/>
    <p:sldId id="293" r:id="rId19"/>
    <p:sldId id="279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0" autoAdjust="0"/>
    <p:restoredTop sz="94660"/>
  </p:normalViewPr>
  <p:slideViewPr>
    <p:cSldViewPr>
      <p:cViewPr>
        <p:scale>
          <a:sx n="66" d="100"/>
          <a:sy n="66" d="100"/>
        </p:scale>
        <p:origin x="-354" y="-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9266284"/>
            <a:ext cx="9144000" cy="453390"/>
          </a:xfrm>
          <a:custGeom>
            <a:avLst/>
            <a:gdLst/>
            <a:ahLst/>
            <a:cxnLst/>
            <a:rect l="l" t="t" r="r" b="b"/>
            <a:pathLst>
              <a:path w="9144000" h="453390">
                <a:moveTo>
                  <a:pt x="0" y="453314"/>
                </a:moveTo>
                <a:lnTo>
                  <a:pt x="9143998" y="453314"/>
                </a:lnTo>
                <a:lnTo>
                  <a:pt x="9143998" y="0"/>
                </a:lnTo>
                <a:lnTo>
                  <a:pt x="0" y="0"/>
                </a:lnTo>
                <a:lnTo>
                  <a:pt x="0" y="453314"/>
                </a:lnTo>
                <a:close/>
              </a:path>
            </a:pathLst>
          </a:custGeom>
          <a:solidFill>
            <a:srgbClr val="FF83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9266284"/>
            <a:ext cx="9182735" cy="453390"/>
          </a:xfrm>
          <a:custGeom>
            <a:avLst/>
            <a:gdLst/>
            <a:ahLst/>
            <a:cxnLst/>
            <a:rect l="l" t="t" r="r" b="b"/>
            <a:pathLst>
              <a:path w="9182735" h="453390">
                <a:moveTo>
                  <a:pt x="0" y="0"/>
                </a:moveTo>
                <a:lnTo>
                  <a:pt x="9182738" y="0"/>
                </a:lnTo>
              </a:path>
              <a:path w="9182735" h="453390">
                <a:moveTo>
                  <a:pt x="9182738" y="453181"/>
                </a:moveTo>
                <a:lnTo>
                  <a:pt x="0" y="45318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143999" y="9266284"/>
            <a:ext cx="9144000" cy="453390"/>
          </a:xfrm>
          <a:custGeom>
            <a:avLst/>
            <a:gdLst/>
            <a:ahLst/>
            <a:cxnLst/>
            <a:rect l="l" t="t" r="r" b="b"/>
            <a:pathLst>
              <a:path w="9144000" h="453390">
                <a:moveTo>
                  <a:pt x="9143999" y="453314"/>
                </a:moveTo>
                <a:lnTo>
                  <a:pt x="0" y="453314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3314"/>
                </a:lnTo>
                <a:close/>
              </a:path>
            </a:pathLst>
          </a:custGeom>
          <a:solidFill>
            <a:srgbClr val="457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5408" y="9266284"/>
            <a:ext cx="9142730" cy="453390"/>
          </a:xfrm>
          <a:custGeom>
            <a:avLst/>
            <a:gdLst/>
            <a:ahLst/>
            <a:cxnLst/>
            <a:rect l="l" t="t" r="r" b="b"/>
            <a:pathLst>
              <a:path w="9142729" h="453390">
                <a:moveTo>
                  <a:pt x="9142590" y="453181"/>
                </a:moveTo>
                <a:lnTo>
                  <a:pt x="0" y="453181"/>
                </a:lnTo>
                <a:lnTo>
                  <a:pt x="0" y="0"/>
                </a:lnTo>
                <a:lnTo>
                  <a:pt x="914259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273" y="246506"/>
            <a:ext cx="17552035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93611" y="2586977"/>
            <a:ext cx="7879715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TachooDa/Customer-Segmentation-Analysis/blob/main/Scripts/cleaned_all_table.sq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github.com/TachooDa/Customer-Segmentation-Analysis/blob/main/Scripts/customer_analysis.sq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39387" y="2168694"/>
            <a:ext cx="5489575" cy="5647055"/>
            <a:chOff x="11639387" y="2168694"/>
            <a:chExt cx="5489575" cy="5647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9329" y="2178219"/>
              <a:ext cx="4762499" cy="56292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999329" y="2173457"/>
              <a:ext cx="4784090" cy="0"/>
            </a:xfrm>
            <a:custGeom>
              <a:avLst/>
              <a:gdLst/>
              <a:ahLst/>
              <a:cxnLst/>
              <a:rect l="l" t="t" r="r" b="b"/>
              <a:pathLst>
                <a:path w="4784090">
                  <a:moveTo>
                    <a:pt x="0" y="0"/>
                  </a:moveTo>
                  <a:lnTo>
                    <a:pt x="4783664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99329" y="7810435"/>
              <a:ext cx="4774565" cy="0"/>
            </a:xfrm>
            <a:custGeom>
              <a:avLst/>
              <a:gdLst/>
              <a:ahLst/>
              <a:cxnLst/>
              <a:rect l="l" t="t" r="r" b="b"/>
              <a:pathLst>
                <a:path w="4774565">
                  <a:moveTo>
                    <a:pt x="0" y="0"/>
                  </a:moveTo>
                  <a:lnTo>
                    <a:pt x="477403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4510" y="2178163"/>
              <a:ext cx="0" cy="5637530"/>
            </a:xfrm>
            <a:custGeom>
              <a:avLst/>
              <a:gdLst/>
              <a:ahLst/>
              <a:cxnLst/>
              <a:rect l="l" t="t" r="r" b="b"/>
              <a:pathLst>
                <a:path h="5637530">
                  <a:moveTo>
                    <a:pt x="0" y="563697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773312" y="2178163"/>
              <a:ext cx="0" cy="5637530"/>
            </a:xfrm>
            <a:custGeom>
              <a:avLst/>
              <a:gdLst/>
              <a:ahLst/>
              <a:cxnLst/>
              <a:rect l="l" t="t" r="r" b="b"/>
              <a:pathLst>
                <a:path h="5637530">
                  <a:moveTo>
                    <a:pt x="0" y="563697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48912" y="6082078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355179" y="710359"/>
                  </a:moveTo>
                  <a:lnTo>
                    <a:pt x="306983" y="707116"/>
                  </a:lnTo>
                  <a:lnTo>
                    <a:pt x="260758" y="697671"/>
                  </a:lnTo>
                  <a:lnTo>
                    <a:pt x="216927" y="682447"/>
                  </a:lnTo>
                  <a:lnTo>
                    <a:pt x="175913" y="661866"/>
                  </a:lnTo>
                  <a:lnTo>
                    <a:pt x="138139" y="636353"/>
                  </a:lnTo>
                  <a:lnTo>
                    <a:pt x="104029" y="606329"/>
                  </a:lnTo>
                  <a:lnTo>
                    <a:pt x="74006" y="572219"/>
                  </a:lnTo>
                  <a:lnTo>
                    <a:pt x="48492" y="534445"/>
                  </a:lnTo>
                  <a:lnTo>
                    <a:pt x="27911" y="493431"/>
                  </a:lnTo>
                  <a:lnTo>
                    <a:pt x="12687" y="449600"/>
                  </a:lnTo>
                  <a:lnTo>
                    <a:pt x="3242" y="403375"/>
                  </a:lnTo>
                  <a:lnTo>
                    <a:pt x="0" y="355179"/>
                  </a:lnTo>
                  <a:lnTo>
                    <a:pt x="3242" y="306983"/>
                  </a:lnTo>
                  <a:lnTo>
                    <a:pt x="12687" y="260758"/>
                  </a:lnTo>
                  <a:lnTo>
                    <a:pt x="27911" y="216927"/>
                  </a:lnTo>
                  <a:lnTo>
                    <a:pt x="48492" y="175913"/>
                  </a:lnTo>
                  <a:lnTo>
                    <a:pt x="74006" y="138139"/>
                  </a:lnTo>
                  <a:lnTo>
                    <a:pt x="104029" y="104029"/>
                  </a:lnTo>
                  <a:lnTo>
                    <a:pt x="138139" y="74006"/>
                  </a:lnTo>
                  <a:lnTo>
                    <a:pt x="175913" y="48492"/>
                  </a:lnTo>
                  <a:lnTo>
                    <a:pt x="216927" y="27911"/>
                  </a:lnTo>
                  <a:lnTo>
                    <a:pt x="260758" y="12687"/>
                  </a:lnTo>
                  <a:lnTo>
                    <a:pt x="306983" y="3242"/>
                  </a:lnTo>
                  <a:lnTo>
                    <a:pt x="355179" y="0"/>
                  </a:lnTo>
                  <a:lnTo>
                    <a:pt x="403375" y="3242"/>
                  </a:lnTo>
                  <a:lnTo>
                    <a:pt x="449600" y="12687"/>
                  </a:lnTo>
                  <a:lnTo>
                    <a:pt x="493431" y="27911"/>
                  </a:lnTo>
                  <a:lnTo>
                    <a:pt x="534445" y="48492"/>
                  </a:lnTo>
                  <a:lnTo>
                    <a:pt x="572219" y="74006"/>
                  </a:lnTo>
                  <a:lnTo>
                    <a:pt x="606329" y="104029"/>
                  </a:lnTo>
                  <a:lnTo>
                    <a:pt x="636352" y="138139"/>
                  </a:lnTo>
                  <a:lnTo>
                    <a:pt x="661866" y="175913"/>
                  </a:lnTo>
                  <a:lnTo>
                    <a:pt x="682447" y="216927"/>
                  </a:lnTo>
                  <a:lnTo>
                    <a:pt x="697671" y="260758"/>
                  </a:lnTo>
                  <a:lnTo>
                    <a:pt x="707116" y="306983"/>
                  </a:lnTo>
                  <a:lnTo>
                    <a:pt x="710358" y="355179"/>
                  </a:lnTo>
                  <a:lnTo>
                    <a:pt x="707116" y="403375"/>
                  </a:lnTo>
                  <a:lnTo>
                    <a:pt x="697671" y="449600"/>
                  </a:lnTo>
                  <a:lnTo>
                    <a:pt x="682447" y="493431"/>
                  </a:lnTo>
                  <a:lnTo>
                    <a:pt x="661866" y="534445"/>
                  </a:lnTo>
                  <a:lnTo>
                    <a:pt x="636352" y="572219"/>
                  </a:lnTo>
                  <a:lnTo>
                    <a:pt x="606329" y="606329"/>
                  </a:lnTo>
                  <a:lnTo>
                    <a:pt x="572219" y="636353"/>
                  </a:lnTo>
                  <a:lnTo>
                    <a:pt x="534445" y="661866"/>
                  </a:lnTo>
                  <a:lnTo>
                    <a:pt x="493431" y="682447"/>
                  </a:lnTo>
                  <a:lnTo>
                    <a:pt x="449600" y="697671"/>
                  </a:lnTo>
                  <a:lnTo>
                    <a:pt x="403375" y="707116"/>
                  </a:lnTo>
                  <a:lnTo>
                    <a:pt x="355179" y="710359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48912" y="6082077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355178" y="0"/>
                  </a:moveTo>
                  <a:lnTo>
                    <a:pt x="306982" y="3242"/>
                  </a:lnTo>
                  <a:lnTo>
                    <a:pt x="260757" y="12687"/>
                  </a:lnTo>
                  <a:lnTo>
                    <a:pt x="216926" y="27911"/>
                  </a:lnTo>
                  <a:lnTo>
                    <a:pt x="175912" y="48492"/>
                  </a:lnTo>
                  <a:lnTo>
                    <a:pt x="138139" y="74005"/>
                  </a:lnTo>
                  <a:lnTo>
                    <a:pt x="104029" y="104029"/>
                  </a:lnTo>
                  <a:lnTo>
                    <a:pt x="74005" y="138139"/>
                  </a:lnTo>
                  <a:lnTo>
                    <a:pt x="48492" y="175912"/>
                  </a:lnTo>
                  <a:lnTo>
                    <a:pt x="27911" y="216926"/>
                  </a:lnTo>
                  <a:lnTo>
                    <a:pt x="12687" y="260757"/>
                  </a:lnTo>
                  <a:lnTo>
                    <a:pt x="3242" y="306982"/>
                  </a:lnTo>
                  <a:lnTo>
                    <a:pt x="0" y="355178"/>
                  </a:lnTo>
                  <a:lnTo>
                    <a:pt x="3242" y="403373"/>
                  </a:lnTo>
                  <a:lnTo>
                    <a:pt x="12687" y="449598"/>
                  </a:lnTo>
                  <a:lnTo>
                    <a:pt x="27911" y="493429"/>
                  </a:lnTo>
                  <a:lnTo>
                    <a:pt x="48492" y="534443"/>
                  </a:lnTo>
                  <a:lnTo>
                    <a:pt x="74005" y="572217"/>
                  </a:lnTo>
                  <a:lnTo>
                    <a:pt x="104029" y="606327"/>
                  </a:lnTo>
                  <a:lnTo>
                    <a:pt x="138139" y="636350"/>
                  </a:lnTo>
                  <a:lnTo>
                    <a:pt x="175912" y="661864"/>
                  </a:lnTo>
                  <a:lnTo>
                    <a:pt x="216926" y="682444"/>
                  </a:lnTo>
                  <a:lnTo>
                    <a:pt x="260757" y="697669"/>
                  </a:lnTo>
                  <a:lnTo>
                    <a:pt x="306982" y="707114"/>
                  </a:lnTo>
                  <a:lnTo>
                    <a:pt x="355178" y="710356"/>
                  </a:lnTo>
                  <a:lnTo>
                    <a:pt x="403373" y="707114"/>
                  </a:lnTo>
                  <a:lnTo>
                    <a:pt x="449598" y="697669"/>
                  </a:lnTo>
                  <a:lnTo>
                    <a:pt x="493429" y="682444"/>
                  </a:lnTo>
                  <a:lnTo>
                    <a:pt x="534443" y="661864"/>
                  </a:lnTo>
                  <a:lnTo>
                    <a:pt x="572217" y="636350"/>
                  </a:lnTo>
                  <a:lnTo>
                    <a:pt x="606327" y="606327"/>
                  </a:lnTo>
                  <a:lnTo>
                    <a:pt x="636350" y="572217"/>
                  </a:lnTo>
                  <a:lnTo>
                    <a:pt x="661864" y="534443"/>
                  </a:lnTo>
                  <a:lnTo>
                    <a:pt x="682444" y="493429"/>
                  </a:lnTo>
                  <a:lnTo>
                    <a:pt x="697669" y="449598"/>
                  </a:lnTo>
                  <a:lnTo>
                    <a:pt x="707114" y="403373"/>
                  </a:lnTo>
                  <a:lnTo>
                    <a:pt x="710356" y="355178"/>
                  </a:lnTo>
                  <a:lnTo>
                    <a:pt x="707114" y="306982"/>
                  </a:lnTo>
                  <a:lnTo>
                    <a:pt x="697669" y="260757"/>
                  </a:lnTo>
                  <a:lnTo>
                    <a:pt x="682444" y="216926"/>
                  </a:lnTo>
                  <a:lnTo>
                    <a:pt x="661864" y="175912"/>
                  </a:lnTo>
                  <a:lnTo>
                    <a:pt x="636350" y="138139"/>
                  </a:lnTo>
                  <a:lnTo>
                    <a:pt x="606327" y="104029"/>
                  </a:lnTo>
                  <a:lnTo>
                    <a:pt x="572217" y="74005"/>
                  </a:lnTo>
                  <a:lnTo>
                    <a:pt x="534443" y="48492"/>
                  </a:lnTo>
                  <a:lnTo>
                    <a:pt x="493429" y="27911"/>
                  </a:lnTo>
                  <a:lnTo>
                    <a:pt x="449598" y="12687"/>
                  </a:lnTo>
                  <a:lnTo>
                    <a:pt x="403373" y="3242"/>
                  </a:lnTo>
                  <a:lnTo>
                    <a:pt x="35517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08664" y="2694497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4">
                  <a:moveTo>
                    <a:pt x="355179" y="710358"/>
                  </a:moveTo>
                  <a:lnTo>
                    <a:pt x="306984" y="707116"/>
                  </a:lnTo>
                  <a:lnTo>
                    <a:pt x="260759" y="697671"/>
                  </a:lnTo>
                  <a:lnTo>
                    <a:pt x="216927" y="682447"/>
                  </a:lnTo>
                  <a:lnTo>
                    <a:pt x="175913" y="661866"/>
                  </a:lnTo>
                  <a:lnTo>
                    <a:pt x="138140" y="636352"/>
                  </a:lnTo>
                  <a:lnTo>
                    <a:pt x="104029" y="606329"/>
                  </a:lnTo>
                  <a:lnTo>
                    <a:pt x="74006" y="572219"/>
                  </a:lnTo>
                  <a:lnTo>
                    <a:pt x="48492" y="534445"/>
                  </a:lnTo>
                  <a:lnTo>
                    <a:pt x="27911" y="493431"/>
                  </a:lnTo>
                  <a:lnTo>
                    <a:pt x="12687" y="449600"/>
                  </a:lnTo>
                  <a:lnTo>
                    <a:pt x="3242" y="403375"/>
                  </a:lnTo>
                  <a:lnTo>
                    <a:pt x="0" y="355179"/>
                  </a:lnTo>
                  <a:lnTo>
                    <a:pt x="3242" y="306983"/>
                  </a:lnTo>
                  <a:lnTo>
                    <a:pt x="12687" y="260758"/>
                  </a:lnTo>
                  <a:lnTo>
                    <a:pt x="27911" y="216927"/>
                  </a:lnTo>
                  <a:lnTo>
                    <a:pt x="48492" y="175913"/>
                  </a:lnTo>
                  <a:lnTo>
                    <a:pt x="74006" y="138139"/>
                  </a:lnTo>
                  <a:lnTo>
                    <a:pt x="104029" y="104029"/>
                  </a:lnTo>
                  <a:lnTo>
                    <a:pt x="138140" y="74006"/>
                  </a:lnTo>
                  <a:lnTo>
                    <a:pt x="175913" y="48492"/>
                  </a:lnTo>
                  <a:lnTo>
                    <a:pt x="216927" y="27911"/>
                  </a:lnTo>
                  <a:lnTo>
                    <a:pt x="260759" y="12687"/>
                  </a:lnTo>
                  <a:lnTo>
                    <a:pt x="306984" y="3242"/>
                  </a:lnTo>
                  <a:lnTo>
                    <a:pt x="355179" y="0"/>
                  </a:lnTo>
                  <a:lnTo>
                    <a:pt x="403375" y="3242"/>
                  </a:lnTo>
                  <a:lnTo>
                    <a:pt x="449600" y="12687"/>
                  </a:lnTo>
                  <a:lnTo>
                    <a:pt x="493431" y="27911"/>
                  </a:lnTo>
                  <a:lnTo>
                    <a:pt x="534445" y="48492"/>
                  </a:lnTo>
                  <a:lnTo>
                    <a:pt x="572219" y="74006"/>
                  </a:lnTo>
                  <a:lnTo>
                    <a:pt x="606329" y="104029"/>
                  </a:lnTo>
                  <a:lnTo>
                    <a:pt x="636353" y="138139"/>
                  </a:lnTo>
                  <a:lnTo>
                    <a:pt x="661867" y="175913"/>
                  </a:lnTo>
                  <a:lnTo>
                    <a:pt x="682447" y="216927"/>
                  </a:lnTo>
                  <a:lnTo>
                    <a:pt x="697672" y="260758"/>
                  </a:lnTo>
                  <a:lnTo>
                    <a:pt x="707117" y="306983"/>
                  </a:lnTo>
                  <a:lnTo>
                    <a:pt x="710359" y="355179"/>
                  </a:lnTo>
                  <a:lnTo>
                    <a:pt x="707117" y="403375"/>
                  </a:lnTo>
                  <a:lnTo>
                    <a:pt x="697672" y="449600"/>
                  </a:lnTo>
                  <a:lnTo>
                    <a:pt x="682447" y="493431"/>
                  </a:lnTo>
                  <a:lnTo>
                    <a:pt x="661867" y="534445"/>
                  </a:lnTo>
                  <a:lnTo>
                    <a:pt x="636353" y="572219"/>
                  </a:lnTo>
                  <a:lnTo>
                    <a:pt x="606329" y="606329"/>
                  </a:lnTo>
                  <a:lnTo>
                    <a:pt x="572219" y="636352"/>
                  </a:lnTo>
                  <a:lnTo>
                    <a:pt x="534445" y="661866"/>
                  </a:lnTo>
                  <a:lnTo>
                    <a:pt x="493431" y="682447"/>
                  </a:lnTo>
                  <a:lnTo>
                    <a:pt x="449600" y="697671"/>
                  </a:lnTo>
                  <a:lnTo>
                    <a:pt x="403375" y="707116"/>
                  </a:lnTo>
                  <a:lnTo>
                    <a:pt x="355179" y="710358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08664" y="2694497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4">
                  <a:moveTo>
                    <a:pt x="355178" y="0"/>
                  </a:moveTo>
                  <a:lnTo>
                    <a:pt x="306982" y="3242"/>
                  </a:lnTo>
                  <a:lnTo>
                    <a:pt x="260757" y="12687"/>
                  </a:lnTo>
                  <a:lnTo>
                    <a:pt x="216926" y="27911"/>
                  </a:lnTo>
                  <a:lnTo>
                    <a:pt x="175912" y="48492"/>
                  </a:lnTo>
                  <a:lnTo>
                    <a:pt x="138139" y="74005"/>
                  </a:lnTo>
                  <a:lnTo>
                    <a:pt x="104029" y="104029"/>
                  </a:lnTo>
                  <a:lnTo>
                    <a:pt x="74005" y="138139"/>
                  </a:lnTo>
                  <a:lnTo>
                    <a:pt x="48492" y="175912"/>
                  </a:lnTo>
                  <a:lnTo>
                    <a:pt x="27911" y="216926"/>
                  </a:lnTo>
                  <a:lnTo>
                    <a:pt x="12687" y="260757"/>
                  </a:lnTo>
                  <a:lnTo>
                    <a:pt x="3242" y="306982"/>
                  </a:lnTo>
                  <a:lnTo>
                    <a:pt x="0" y="355178"/>
                  </a:lnTo>
                  <a:lnTo>
                    <a:pt x="3242" y="403373"/>
                  </a:lnTo>
                  <a:lnTo>
                    <a:pt x="12687" y="449598"/>
                  </a:lnTo>
                  <a:lnTo>
                    <a:pt x="27911" y="493429"/>
                  </a:lnTo>
                  <a:lnTo>
                    <a:pt x="48492" y="534443"/>
                  </a:lnTo>
                  <a:lnTo>
                    <a:pt x="74005" y="572217"/>
                  </a:lnTo>
                  <a:lnTo>
                    <a:pt x="104029" y="606327"/>
                  </a:lnTo>
                  <a:lnTo>
                    <a:pt x="138139" y="636350"/>
                  </a:lnTo>
                  <a:lnTo>
                    <a:pt x="175912" y="661864"/>
                  </a:lnTo>
                  <a:lnTo>
                    <a:pt x="216926" y="682444"/>
                  </a:lnTo>
                  <a:lnTo>
                    <a:pt x="260757" y="697669"/>
                  </a:lnTo>
                  <a:lnTo>
                    <a:pt x="306982" y="707114"/>
                  </a:lnTo>
                  <a:lnTo>
                    <a:pt x="355178" y="710356"/>
                  </a:lnTo>
                  <a:lnTo>
                    <a:pt x="403373" y="707114"/>
                  </a:lnTo>
                  <a:lnTo>
                    <a:pt x="449598" y="697669"/>
                  </a:lnTo>
                  <a:lnTo>
                    <a:pt x="493429" y="682444"/>
                  </a:lnTo>
                  <a:lnTo>
                    <a:pt x="534443" y="661864"/>
                  </a:lnTo>
                  <a:lnTo>
                    <a:pt x="572217" y="636350"/>
                  </a:lnTo>
                  <a:lnTo>
                    <a:pt x="606327" y="606327"/>
                  </a:lnTo>
                  <a:lnTo>
                    <a:pt x="636350" y="572217"/>
                  </a:lnTo>
                  <a:lnTo>
                    <a:pt x="661864" y="534443"/>
                  </a:lnTo>
                  <a:lnTo>
                    <a:pt x="682444" y="493429"/>
                  </a:lnTo>
                  <a:lnTo>
                    <a:pt x="697669" y="449598"/>
                  </a:lnTo>
                  <a:lnTo>
                    <a:pt x="707114" y="403373"/>
                  </a:lnTo>
                  <a:lnTo>
                    <a:pt x="710356" y="355178"/>
                  </a:lnTo>
                  <a:lnTo>
                    <a:pt x="707114" y="306982"/>
                  </a:lnTo>
                  <a:lnTo>
                    <a:pt x="697669" y="260757"/>
                  </a:lnTo>
                  <a:lnTo>
                    <a:pt x="682444" y="216926"/>
                  </a:lnTo>
                  <a:lnTo>
                    <a:pt x="661864" y="175912"/>
                  </a:lnTo>
                  <a:lnTo>
                    <a:pt x="636350" y="138139"/>
                  </a:lnTo>
                  <a:lnTo>
                    <a:pt x="606327" y="104029"/>
                  </a:lnTo>
                  <a:lnTo>
                    <a:pt x="572217" y="74005"/>
                  </a:lnTo>
                  <a:lnTo>
                    <a:pt x="534443" y="48492"/>
                  </a:lnTo>
                  <a:lnTo>
                    <a:pt x="493429" y="27911"/>
                  </a:lnTo>
                  <a:lnTo>
                    <a:pt x="449598" y="12687"/>
                  </a:lnTo>
                  <a:lnTo>
                    <a:pt x="403373" y="3242"/>
                  </a:lnTo>
                  <a:lnTo>
                    <a:pt x="35517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033462" y="2708643"/>
            <a:ext cx="9005570" cy="0"/>
          </a:xfrm>
          <a:custGeom>
            <a:avLst/>
            <a:gdLst/>
            <a:ahLst/>
            <a:cxnLst/>
            <a:rect l="l" t="t" r="r" b="b"/>
            <a:pathLst>
              <a:path w="9005570">
                <a:moveTo>
                  <a:pt x="0" y="0"/>
                </a:moveTo>
                <a:lnTo>
                  <a:pt x="900545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3462" y="7072861"/>
            <a:ext cx="9005570" cy="0"/>
          </a:xfrm>
          <a:custGeom>
            <a:avLst/>
            <a:gdLst/>
            <a:ahLst/>
            <a:cxnLst/>
            <a:rect l="l" t="t" r="r" b="b"/>
            <a:pathLst>
              <a:path w="9005570">
                <a:moveTo>
                  <a:pt x="0" y="0"/>
                </a:moveTo>
                <a:lnTo>
                  <a:pt x="900545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56619" y="257139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2" y="272652"/>
                </a:moveTo>
                <a:lnTo>
                  <a:pt x="0" y="0"/>
                </a:lnTo>
                <a:lnTo>
                  <a:pt x="311603" y="0"/>
                </a:lnTo>
                <a:lnTo>
                  <a:pt x="155801" y="272652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183871" y="6936016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22891" y="257139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550142" y="6936016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2" y="272652"/>
                </a:moveTo>
                <a:lnTo>
                  <a:pt x="0" y="0"/>
                </a:lnTo>
                <a:lnTo>
                  <a:pt x="311603" y="0"/>
                </a:lnTo>
                <a:lnTo>
                  <a:pt x="155802" y="272652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771501" y="6204666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4" h="465454">
                <a:moveTo>
                  <a:pt x="232543" y="465087"/>
                </a:moveTo>
                <a:lnTo>
                  <a:pt x="223918" y="401160"/>
                </a:lnTo>
                <a:lnTo>
                  <a:pt x="213626" y="351330"/>
                </a:lnTo>
                <a:lnTo>
                  <a:pt x="199603" y="313531"/>
                </a:lnTo>
                <a:lnTo>
                  <a:pt x="152095" y="265761"/>
                </a:lnTo>
                <a:lnTo>
                  <a:pt x="114480" y="251658"/>
                </a:lnTo>
                <a:lnTo>
                  <a:pt x="64868" y="241322"/>
                </a:lnTo>
                <a:lnTo>
                  <a:pt x="1194" y="232686"/>
                </a:lnTo>
                <a:lnTo>
                  <a:pt x="0" y="232543"/>
                </a:lnTo>
                <a:lnTo>
                  <a:pt x="64045" y="223899"/>
                </a:lnTo>
                <a:lnTo>
                  <a:pt x="113939" y="213577"/>
                </a:lnTo>
                <a:lnTo>
                  <a:pt x="151760" y="199500"/>
                </a:lnTo>
                <a:lnTo>
                  <a:pt x="199500" y="151760"/>
                </a:lnTo>
                <a:lnTo>
                  <a:pt x="213578" y="113939"/>
                </a:lnTo>
                <a:lnTo>
                  <a:pt x="223899" y="64045"/>
                </a:lnTo>
                <a:lnTo>
                  <a:pt x="232543" y="0"/>
                </a:lnTo>
                <a:lnTo>
                  <a:pt x="241188" y="64045"/>
                </a:lnTo>
                <a:lnTo>
                  <a:pt x="251509" y="113939"/>
                </a:lnTo>
                <a:lnTo>
                  <a:pt x="265587" y="151760"/>
                </a:lnTo>
                <a:lnTo>
                  <a:pt x="313327" y="199500"/>
                </a:lnTo>
                <a:lnTo>
                  <a:pt x="351148" y="213577"/>
                </a:lnTo>
                <a:lnTo>
                  <a:pt x="401042" y="223899"/>
                </a:lnTo>
                <a:lnTo>
                  <a:pt x="465087" y="232543"/>
                </a:lnTo>
                <a:lnTo>
                  <a:pt x="401042" y="241188"/>
                </a:lnTo>
                <a:lnTo>
                  <a:pt x="351148" y="251509"/>
                </a:lnTo>
                <a:lnTo>
                  <a:pt x="313327" y="265587"/>
                </a:lnTo>
                <a:lnTo>
                  <a:pt x="265587" y="313327"/>
                </a:lnTo>
                <a:lnTo>
                  <a:pt x="251509" y="351148"/>
                </a:lnTo>
                <a:lnTo>
                  <a:pt x="241188" y="401042"/>
                </a:lnTo>
                <a:lnTo>
                  <a:pt x="232543" y="465087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509996" y="2795829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88989" y="205821"/>
                </a:moveTo>
                <a:lnTo>
                  <a:pt x="229377" y="205821"/>
                </a:lnTo>
                <a:lnTo>
                  <a:pt x="243453" y="173783"/>
                </a:lnTo>
                <a:lnTo>
                  <a:pt x="251822" y="130093"/>
                </a:lnTo>
                <a:lnTo>
                  <a:pt x="256420" y="72811"/>
                </a:lnTo>
                <a:lnTo>
                  <a:pt x="259183" y="0"/>
                </a:lnTo>
                <a:lnTo>
                  <a:pt x="261947" y="72811"/>
                </a:lnTo>
                <a:lnTo>
                  <a:pt x="266545" y="130093"/>
                </a:lnTo>
                <a:lnTo>
                  <a:pt x="274914" y="173783"/>
                </a:lnTo>
                <a:lnTo>
                  <a:pt x="288989" y="205821"/>
                </a:lnTo>
                <a:close/>
              </a:path>
              <a:path w="514350" h="514350">
                <a:moveTo>
                  <a:pt x="136804" y="381563"/>
                </a:moveTo>
                <a:lnTo>
                  <a:pt x="161001" y="353359"/>
                </a:lnTo>
                <a:lnTo>
                  <a:pt x="180567" y="329083"/>
                </a:lnTo>
                <a:lnTo>
                  <a:pt x="195506" y="307903"/>
                </a:lnTo>
                <a:lnTo>
                  <a:pt x="205820" y="288990"/>
                </a:lnTo>
                <a:lnTo>
                  <a:pt x="173783" y="274914"/>
                </a:lnTo>
                <a:lnTo>
                  <a:pt x="130093" y="266545"/>
                </a:lnTo>
                <a:lnTo>
                  <a:pt x="72811" y="261947"/>
                </a:lnTo>
                <a:lnTo>
                  <a:pt x="0" y="259184"/>
                </a:lnTo>
                <a:lnTo>
                  <a:pt x="72811" y="256420"/>
                </a:lnTo>
                <a:lnTo>
                  <a:pt x="130093" y="251822"/>
                </a:lnTo>
                <a:lnTo>
                  <a:pt x="173783" y="243453"/>
                </a:lnTo>
                <a:lnTo>
                  <a:pt x="205820" y="229377"/>
                </a:lnTo>
                <a:lnTo>
                  <a:pt x="195506" y="210463"/>
                </a:lnTo>
                <a:lnTo>
                  <a:pt x="180567" y="189284"/>
                </a:lnTo>
                <a:lnTo>
                  <a:pt x="161000" y="165008"/>
                </a:lnTo>
                <a:lnTo>
                  <a:pt x="136804" y="136804"/>
                </a:lnTo>
                <a:lnTo>
                  <a:pt x="165008" y="161001"/>
                </a:lnTo>
                <a:lnTo>
                  <a:pt x="189284" y="180567"/>
                </a:lnTo>
                <a:lnTo>
                  <a:pt x="210463" y="195506"/>
                </a:lnTo>
                <a:lnTo>
                  <a:pt x="229377" y="205821"/>
                </a:lnTo>
                <a:lnTo>
                  <a:pt x="326135" y="205821"/>
                </a:lnTo>
                <a:lnTo>
                  <a:pt x="322861" y="210463"/>
                </a:lnTo>
                <a:lnTo>
                  <a:pt x="344584" y="243453"/>
                </a:lnTo>
                <a:lnTo>
                  <a:pt x="388274" y="251822"/>
                </a:lnTo>
                <a:lnTo>
                  <a:pt x="445556" y="256420"/>
                </a:lnTo>
                <a:lnTo>
                  <a:pt x="514349" y="259031"/>
                </a:lnTo>
                <a:lnTo>
                  <a:pt x="514349" y="259336"/>
                </a:lnTo>
                <a:lnTo>
                  <a:pt x="445556" y="261947"/>
                </a:lnTo>
                <a:lnTo>
                  <a:pt x="388274" y="266545"/>
                </a:lnTo>
                <a:lnTo>
                  <a:pt x="344584" y="274914"/>
                </a:lnTo>
                <a:lnTo>
                  <a:pt x="312546" y="288990"/>
                </a:lnTo>
                <a:lnTo>
                  <a:pt x="322861" y="307903"/>
                </a:lnTo>
                <a:lnTo>
                  <a:pt x="326136" y="312547"/>
                </a:lnTo>
                <a:lnTo>
                  <a:pt x="229377" y="312547"/>
                </a:lnTo>
                <a:lnTo>
                  <a:pt x="210464" y="322861"/>
                </a:lnTo>
                <a:lnTo>
                  <a:pt x="189284" y="337800"/>
                </a:lnTo>
                <a:lnTo>
                  <a:pt x="165008" y="357366"/>
                </a:lnTo>
                <a:lnTo>
                  <a:pt x="136804" y="381563"/>
                </a:lnTo>
                <a:close/>
              </a:path>
              <a:path w="514350" h="514350">
                <a:moveTo>
                  <a:pt x="326135" y="205821"/>
                </a:moveTo>
                <a:lnTo>
                  <a:pt x="288989" y="205821"/>
                </a:lnTo>
                <a:lnTo>
                  <a:pt x="307903" y="195506"/>
                </a:lnTo>
                <a:lnTo>
                  <a:pt x="329083" y="180567"/>
                </a:lnTo>
                <a:lnTo>
                  <a:pt x="353359" y="161001"/>
                </a:lnTo>
                <a:lnTo>
                  <a:pt x="381563" y="136804"/>
                </a:lnTo>
                <a:lnTo>
                  <a:pt x="357366" y="165008"/>
                </a:lnTo>
                <a:lnTo>
                  <a:pt x="337800" y="189284"/>
                </a:lnTo>
                <a:lnTo>
                  <a:pt x="326135" y="205821"/>
                </a:lnTo>
                <a:close/>
              </a:path>
              <a:path w="514350" h="514350">
                <a:moveTo>
                  <a:pt x="259336" y="514349"/>
                </a:moveTo>
                <a:lnTo>
                  <a:pt x="259031" y="514349"/>
                </a:lnTo>
                <a:lnTo>
                  <a:pt x="256420" y="445556"/>
                </a:lnTo>
                <a:lnTo>
                  <a:pt x="251822" y="388274"/>
                </a:lnTo>
                <a:lnTo>
                  <a:pt x="243453" y="344584"/>
                </a:lnTo>
                <a:lnTo>
                  <a:pt x="229377" y="312547"/>
                </a:lnTo>
                <a:lnTo>
                  <a:pt x="288990" y="312547"/>
                </a:lnTo>
                <a:lnTo>
                  <a:pt x="274914" y="344584"/>
                </a:lnTo>
                <a:lnTo>
                  <a:pt x="266545" y="388274"/>
                </a:lnTo>
                <a:lnTo>
                  <a:pt x="261947" y="445556"/>
                </a:lnTo>
                <a:lnTo>
                  <a:pt x="259336" y="514349"/>
                </a:lnTo>
                <a:close/>
              </a:path>
              <a:path w="514350" h="514350">
                <a:moveTo>
                  <a:pt x="381563" y="381563"/>
                </a:moveTo>
                <a:lnTo>
                  <a:pt x="353359" y="357366"/>
                </a:lnTo>
                <a:lnTo>
                  <a:pt x="329083" y="337800"/>
                </a:lnTo>
                <a:lnTo>
                  <a:pt x="307904" y="322861"/>
                </a:lnTo>
                <a:lnTo>
                  <a:pt x="288990" y="312547"/>
                </a:lnTo>
                <a:lnTo>
                  <a:pt x="326136" y="312547"/>
                </a:lnTo>
                <a:lnTo>
                  <a:pt x="337800" y="329083"/>
                </a:lnTo>
                <a:lnTo>
                  <a:pt x="357366" y="353359"/>
                </a:lnTo>
                <a:lnTo>
                  <a:pt x="381563" y="38156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23" name="object 23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16865" y="3096821"/>
            <a:ext cx="10243185" cy="3090783"/>
          </a:xfrm>
          <a:prstGeom prst="rect">
            <a:avLst/>
          </a:prstGeom>
        </p:spPr>
        <p:txBody>
          <a:bodyPr vert="horz" wrap="square" lIns="0" tIns="307340" rIns="0" bIns="0" rtlCol="0">
            <a:spAutoFit/>
          </a:bodyPr>
          <a:lstStyle/>
          <a:p>
            <a:pPr marL="12700" marR="5080">
              <a:lnSpc>
                <a:spcPts val="11550"/>
              </a:lnSpc>
              <a:spcBef>
                <a:spcPts val="2420"/>
              </a:spcBef>
            </a:pPr>
            <a:r>
              <a:rPr lang="en-US" sz="5400" b="1" i="0" dirty="0">
                <a:effectLst/>
              </a:rPr>
              <a:t>Cohort &amp; Retention Analysis with RFM Segmentation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16865" y="7467179"/>
            <a:ext cx="57245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latin typeface="Courier New"/>
                <a:cs typeface="Courier New"/>
              </a:rPr>
              <a:t>Faraj Hafidh</a:t>
            </a:r>
            <a:r>
              <a:rPr sz="2200" dirty="0">
                <a:latin typeface="Courier New"/>
                <a:cs typeface="Courier New"/>
              </a:rPr>
              <a:t>|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016865" y="2006493"/>
            <a:ext cx="3783731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latin typeface="Courier New"/>
                <a:cs typeface="Courier New"/>
              </a:rPr>
              <a:t>Retail Fashion Company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1279" y="4269232"/>
            <a:ext cx="6798945" cy="3380104"/>
          </a:xfrm>
          <a:prstGeom prst="rect">
            <a:avLst/>
          </a:prstGeom>
        </p:spPr>
        <p:txBody>
          <a:bodyPr vert="horz" wrap="square" lIns="0" tIns="318770" rIns="0" bIns="0" rtlCol="0">
            <a:spAutoFit/>
          </a:bodyPr>
          <a:lstStyle/>
          <a:p>
            <a:pPr marL="12700" marR="5080">
              <a:lnSpc>
                <a:spcPts val="12000"/>
              </a:lnSpc>
              <a:spcBef>
                <a:spcPts val="2510"/>
              </a:spcBef>
            </a:pPr>
            <a:r>
              <a:rPr sz="12000" spc="-1410" dirty="0">
                <a:solidFill>
                  <a:srgbClr val="040505"/>
                </a:solidFill>
                <a:latin typeface="Arial Black"/>
                <a:cs typeface="Arial Black"/>
              </a:rPr>
              <a:t>LIST</a:t>
            </a:r>
            <a:r>
              <a:rPr sz="12000" spc="-1590" dirty="0">
                <a:solidFill>
                  <a:srgbClr val="040505"/>
                </a:solidFill>
                <a:latin typeface="Arial Black"/>
                <a:cs typeface="Arial Black"/>
              </a:rPr>
              <a:t> </a:t>
            </a:r>
            <a:r>
              <a:rPr sz="12000" spc="-1620" dirty="0">
                <a:solidFill>
                  <a:srgbClr val="040505"/>
                </a:solidFill>
                <a:latin typeface="Arial Black"/>
                <a:cs typeface="Arial Black"/>
              </a:rPr>
              <a:t>OF </a:t>
            </a:r>
            <a:r>
              <a:rPr sz="12000" spc="-1785" dirty="0">
                <a:solidFill>
                  <a:srgbClr val="040505"/>
                </a:solidFill>
                <a:latin typeface="Arial Black"/>
                <a:cs typeface="Arial Black"/>
              </a:rPr>
              <a:t>CONTENT</a:t>
            </a:r>
            <a:endParaRPr sz="120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83979" y="8120234"/>
            <a:ext cx="7455534" cy="0"/>
          </a:xfrm>
          <a:custGeom>
            <a:avLst/>
            <a:gdLst/>
            <a:ahLst/>
            <a:cxnLst/>
            <a:rect l="l" t="t" r="r" b="b"/>
            <a:pathLst>
              <a:path w="7455534">
                <a:moveTo>
                  <a:pt x="0" y="0"/>
                </a:moveTo>
                <a:lnTo>
                  <a:pt x="745540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83979" y="4045727"/>
            <a:ext cx="7455534" cy="0"/>
          </a:xfrm>
          <a:custGeom>
            <a:avLst/>
            <a:gdLst/>
            <a:ahLst/>
            <a:cxnLst/>
            <a:rect l="l" t="t" r="r" b="b"/>
            <a:pathLst>
              <a:path w="7455534">
                <a:moveTo>
                  <a:pt x="0" y="0"/>
                </a:moveTo>
                <a:lnTo>
                  <a:pt x="745540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86692" y="163132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86692" y="259200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86692" y="35526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86692" y="45133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86692" y="54740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86692" y="643474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86692" y="739543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651" y="285303"/>
                </a:moveTo>
                <a:lnTo>
                  <a:pt x="133776" y="226790"/>
                </a:lnTo>
                <a:lnTo>
                  <a:pt x="120337" y="188469"/>
                </a:lnTo>
                <a:lnTo>
                  <a:pt x="59007" y="151635"/>
                </a:lnTo>
                <a:lnTo>
                  <a:pt x="732" y="142739"/>
                </a:lnTo>
                <a:lnTo>
                  <a:pt x="0" y="142651"/>
                </a:lnTo>
                <a:lnTo>
                  <a:pt x="58612" y="133754"/>
                </a:lnTo>
                <a:lnTo>
                  <a:pt x="96959" y="120265"/>
                </a:lnTo>
                <a:lnTo>
                  <a:pt x="120265" y="96959"/>
                </a:lnTo>
                <a:lnTo>
                  <a:pt x="133755" y="58612"/>
                </a:lnTo>
                <a:lnTo>
                  <a:pt x="142651" y="0"/>
                </a:lnTo>
                <a:lnTo>
                  <a:pt x="151548" y="58612"/>
                </a:lnTo>
                <a:lnTo>
                  <a:pt x="165037" y="96959"/>
                </a:lnTo>
                <a:lnTo>
                  <a:pt x="188343" y="120265"/>
                </a:lnTo>
                <a:lnTo>
                  <a:pt x="226690" y="133754"/>
                </a:lnTo>
                <a:lnTo>
                  <a:pt x="285303" y="142651"/>
                </a:lnTo>
                <a:lnTo>
                  <a:pt x="226690" y="151548"/>
                </a:lnTo>
                <a:lnTo>
                  <a:pt x="188343" y="165037"/>
                </a:lnTo>
                <a:lnTo>
                  <a:pt x="165037" y="188343"/>
                </a:lnTo>
                <a:lnTo>
                  <a:pt x="151548" y="226690"/>
                </a:lnTo>
                <a:lnTo>
                  <a:pt x="142651" y="285303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161721" y="1286891"/>
            <a:ext cx="7969884" cy="2245995"/>
            <a:chOff x="1161721" y="1286891"/>
            <a:chExt cx="7969884" cy="22459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6751" y="1484732"/>
              <a:ext cx="7400924" cy="18573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928460" y="1470413"/>
              <a:ext cx="0" cy="1870710"/>
            </a:xfrm>
            <a:custGeom>
              <a:avLst/>
              <a:gdLst/>
              <a:ahLst/>
              <a:cxnLst/>
              <a:rect l="l" t="t" r="r" b="b"/>
              <a:pathLst>
                <a:path h="1870710">
                  <a:moveTo>
                    <a:pt x="0" y="187053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1989" y="1479970"/>
              <a:ext cx="7406640" cy="0"/>
            </a:xfrm>
            <a:custGeom>
              <a:avLst/>
              <a:gdLst/>
              <a:ahLst/>
              <a:cxnLst/>
              <a:rect l="l" t="t" r="r" b="b"/>
              <a:pathLst>
                <a:path w="7406640">
                  <a:moveTo>
                    <a:pt x="0" y="0"/>
                  </a:moveTo>
                  <a:lnTo>
                    <a:pt x="7406028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1335" y="3340980"/>
              <a:ext cx="7397750" cy="0"/>
            </a:xfrm>
            <a:custGeom>
              <a:avLst/>
              <a:gdLst/>
              <a:ahLst/>
              <a:cxnLst/>
              <a:rect l="l" t="t" r="r" b="b"/>
              <a:pathLst>
                <a:path w="7397750">
                  <a:moveTo>
                    <a:pt x="0" y="0"/>
                  </a:moveTo>
                  <a:lnTo>
                    <a:pt x="7397157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6689" y="1475145"/>
              <a:ext cx="0" cy="1430655"/>
            </a:xfrm>
            <a:custGeom>
              <a:avLst/>
              <a:gdLst/>
              <a:ahLst/>
              <a:cxnLst/>
              <a:rect l="l" t="t" r="r" b="b"/>
              <a:pathLst>
                <a:path h="1430655">
                  <a:moveTo>
                    <a:pt x="0" y="1430511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01777" y="1296415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088" y="720178"/>
                  </a:moveTo>
                  <a:lnTo>
                    <a:pt x="311226" y="716890"/>
                  </a:lnTo>
                  <a:lnTo>
                    <a:pt x="264362" y="707315"/>
                  </a:lnTo>
                  <a:lnTo>
                    <a:pt x="219926" y="691880"/>
                  </a:lnTo>
                  <a:lnTo>
                    <a:pt x="178345" y="671015"/>
                  </a:lnTo>
                  <a:lnTo>
                    <a:pt x="140049" y="645149"/>
                  </a:lnTo>
                  <a:lnTo>
                    <a:pt x="105467" y="614710"/>
                  </a:lnTo>
                  <a:lnTo>
                    <a:pt x="75029" y="580128"/>
                  </a:lnTo>
                  <a:lnTo>
                    <a:pt x="49162" y="541832"/>
                  </a:lnTo>
                  <a:lnTo>
                    <a:pt x="28297" y="500251"/>
                  </a:lnTo>
                  <a:lnTo>
                    <a:pt x="12862" y="455814"/>
                  </a:lnTo>
                  <a:lnTo>
                    <a:pt x="3287" y="408950"/>
                  </a:lnTo>
                  <a:lnTo>
                    <a:pt x="0" y="360089"/>
                  </a:lnTo>
                  <a:lnTo>
                    <a:pt x="3287" y="311227"/>
                  </a:lnTo>
                  <a:lnTo>
                    <a:pt x="12862" y="264363"/>
                  </a:lnTo>
                  <a:lnTo>
                    <a:pt x="28297" y="219926"/>
                  </a:lnTo>
                  <a:lnTo>
                    <a:pt x="49162" y="178345"/>
                  </a:lnTo>
                  <a:lnTo>
                    <a:pt x="75029" y="140049"/>
                  </a:lnTo>
                  <a:lnTo>
                    <a:pt x="105467" y="105467"/>
                  </a:lnTo>
                  <a:lnTo>
                    <a:pt x="140049" y="75029"/>
                  </a:lnTo>
                  <a:lnTo>
                    <a:pt x="178345" y="49162"/>
                  </a:lnTo>
                  <a:lnTo>
                    <a:pt x="219926" y="28297"/>
                  </a:lnTo>
                  <a:lnTo>
                    <a:pt x="264362" y="12862"/>
                  </a:lnTo>
                  <a:lnTo>
                    <a:pt x="311226" y="3287"/>
                  </a:lnTo>
                  <a:lnTo>
                    <a:pt x="360088" y="0"/>
                  </a:lnTo>
                  <a:lnTo>
                    <a:pt x="408950" y="3287"/>
                  </a:lnTo>
                  <a:lnTo>
                    <a:pt x="455814" y="12862"/>
                  </a:lnTo>
                  <a:lnTo>
                    <a:pt x="500251" y="28297"/>
                  </a:lnTo>
                  <a:lnTo>
                    <a:pt x="541832" y="49162"/>
                  </a:lnTo>
                  <a:lnTo>
                    <a:pt x="580128" y="75029"/>
                  </a:lnTo>
                  <a:lnTo>
                    <a:pt x="614710" y="105467"/>
                  </a:lnTo>
                  <a:lnTo>
                    <a:pt x="645148" y="140049"/>
                  </a:lnTo>
                  <a:lnTo>
                    <a:pt x="671015" y="178345"/>
                  </a:lnTo>
                  <a:lnTo>
                    <a:pt x="691880" y="219926"/>
                  </a:lnTo>
                  <a:lnTo>
                    <a:pt x="707315" y="264363"/>
                  </a:lnTo>
                  <a:lnTo>
                    <a:pt x="716890" y="311227"/>
                  </a:lnTo>
                  <a:lnTo>
                    <a:pt x="720177" y="360089"/>
                  </a:lnTo>
                  <a:lnTo>
                    <a:pt x="716890" y="408950"/>
                  </a:lnTo>
                  <a:lnTo>
                    <a:pt x="707315" y="455814"/>
                  </a:lnTo>
                  <a:lnTo>
                    <a:pt x="691880" y="500251"/>
                  </a:lnTo>
                  <a:lnTo>
                    <a:pt x="671015" y="541832"/>
                  </a:lnTo>
                  <a:lnTo>
                    <a:pt x="645148" y="580128"/>
                  </a:lnTo>
                  <a:lnTo>
                    <a:pt x="614710" y="614710"/>
                  </a:lnTo>
                  <a:lnTo>
                    <a:pt x="580128" y="645149"/>
                  </a:lnTo>
                  <a:lnTo>
                    <a:pt x="541832" y="671015"/>
                  </a:lnTo>
                  <a:lnTo>
                    <a:pt x="500251" y="691880"/>
                  </a:lnTo>
                  <a:lnTo>
                    <a:pt x="455814" y="707315"/>
                  </a:lnTo>
                  <a:lnTo>
                    <a:pt x="408950" y="716890"/>
                  </a:lnTo>
                  <a:lnTo>
                    <a:pt x="360088" y="720178"/>
                  </a:lnTo>
                  <a:close/>
                </a:path>
              </a:pathLst>
            </a:custGeom>
            <a:solidFill>
              <a:srgbClr val="D1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01777" y="1296416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360015" y="0"/>
                  </a:moveTo>
                  <a:lnTo>
                    <a:pt x="311163" y="3286"/>
                  </a:lnTo>
                  <a:lnTo>
                    <a:pt x="264308" y="12860"/>
                  </a:lnTo>
                  <a:lnTo>
                    <a:pt x="219881" y="28291"/>
                  </a:lnTo>
                  <a:lnTo>
                    <a:pt x="178308" y="49152"/>
                  </a:lnTo>
                  <a:lnTo>
                    <a:pt x="140020" y="75013"/>
                  </a:lnTo>
                  <a:lnTo>
                    <a:pt x="105446" y="105446"/>
                  </a:lnTo>
                  <a:lnTo>
                    <a:pt x="75013" y="140020"/>
                  </a:lnTo>
                  <a:lnTo>
                    <a:pt x="49152" y="178308"/>
                  </a:lnTo>
                  <a:lnTo>
                    <a:pt x="28291" y="219881"/>
                  </a:lnTo>
                  <a:lnTo>
                    <a:pt x="12860" y="264308"/>
                  </a:lnTo>
                  <a:lnTo>
                    <a:pt x="3286" y="311163"/>
                  </a:lnTo>
                  <a:lnTo>
                    <a:pt x="0" y="360015"/>
                  </a:lnTo>
                  <a:lnTo>
                    <a:pt x="3286" y="408867"/>
                  </a:lnTo>
                  <a:lnTo>
                    <a:pt x="12860" y="455721"/>
                  </a:lnTo>
                  <a:lnTo>
                    <a:pt x="28291" y="500149"/>
                  </a:lnTo>
                  <a:lnTo>
                    <a:pt x="49152" y="541721"/>
                  </a:lnTo>
                  <a:lnTo>
                    <a:pt x="75013" y="580009"/>
                  </a:lnTo>
                  <a:lnTo>
                    <a:pt x="105446" y="614584"/>
                  </a:lnTo>
                  <a:lnTo>
                    <a:pt x="140020" y="645016"/>
                  </a:lnTo>
                  <a:lnTo>
                    <a:pt x="178308" y="670877"/>
                  </a:lnTo>
                  <a:lnTo>
                    <a:pt x="219881" y="691738"/>
                  </a:lnTo>
                  <a:lnTo>
                    <a:pt x="264308" y="707170"/>
                  </a:lnTo>
                  <a:lnTo>
                    <a:pt x="311163" y="716743"/>
                  </a:lnTo>
                  <a:lnTo>
                    <a:pt x="360015" y="720030"/>
                  </a:lnTo>
                  <a:lnTo>
                    <a:pt x="408867" y="716743"/>
                  </a:lnTo>
                  <a:lnTo>
                    <a:pt x="455721" y="707170"/>
                  </a:lnTo>
                  <a:lnTo>
                    <a:pt x="500149" y="691738"/>
                  </a:lnTo>
                  <a:lnTo>
                    <a:pt x="541721" y="670877"/>
                  </a:lnTo>
                  <a:lnTo>
                    <a:pt x="580009" y="645016"/>
                  </a:lnTo>
                  <a:lnTo>
                    <a:pt x="614584" y="614584"/>
                  </a:lnTo>
                  <a:lnTo>
                    <a:pt x="645016" y="580009"/>
                  </a:lnTo>
                  <a:lnTo>
                    <a:pt x="670877" y="541721"/>
                  </a:lnTo>
                  <a:lnTo>
                    <a:pt x="691738" y="500149"/>
                  </a:lnTo>
                  <a:lnTo>
                    <a:pt x="707170" y="455721"/>
                  </a:lnTo>
                  <a:lnTo>
                    <a:pt x="716743" y="408867"/>
                  </a:lnTo>
                  <a:lnTo>
                    <a:pt x="720030" y="360015"/>
                  </a:lnTo>
                  <a:lnTo>
                    <a:pt x="716743" y="311163"/>
                  </a:lnTo>
                  <a:lnTo>
                    <a:pt x="707170" y="264308"/>
                  </a:lnTo>
                  <a:lnTo>
                    <a:pt x="691738" y="219881"/>
                  </a:lnTo>
                  <a:lnTo>
                    <a:pt x="670877" y="178308"/>
                  </a:lnTo>
                  <a:lnTo>
                    <a:pt x="645016" y="140020"/>
                  </a:lnTo>
                  <a:lnTo>
                    <a:pt x="614584" y="105446"/>
                  </a:lnTo>
                  <a:lnTo>
                    <a:pt x="580009" y="75013"/>
                  </a:lnTo>
                  <a:lnTo>
                    <a:pt x="541721" y="49152"/>
                  </a:lnTo>
                  <a:lnTo>
                    <a:pt x="500149" y="28291"/>
                  </a:lnTo>
                  <a:lnTo>
                    <a:pt x="455721" y="12860"/>
                  </a:lnTo>
                  <a:lnTo>
                    <a:pt x="408867" y="3286"/>
                  </a:lnTo>
                  <a:lnTo>
                    <a:pt x="36001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71246" y="2802986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089" y="720178"/>
                  </a:moveTo>
                  <a:lnTo>
                    <a:pt x="311227" y="716890"/>
                  </a:lnTo>
                  <a:lnTo>
                    <a:pt x="264363" y="707315"/>
                  </a:lnTo>
                  <a:lnTo>
                    <a:pt x="219926" y="691880"/>
                  </a:lnTo>
                  <a:lnTo>
                    <a:pt x="178345" y="671015"/>
                  </a:lnTo>
                  <a:lnTo>
                    <a:pt x="140049" y="645148"/>
                  </a:lnTo>
                  <a:lnTo>
                    <a:pt x="105467" y="614710"/>
                  </a:lnTo>
                  <a:lnTo>
                    <a:pt x="75029" y="580128"/>
                  </a:lnTo>
                  <a:lnTo>
                    <a:pt x="49162" y="541832"/>
                  </a:lnTo>
                  <a:lnTo>
                    <a:pt x="28297" y="500251"/>
                  </a:lnTo>
                  <a:lnTo>
                    <a:pt x="12862" y="455814"/>
                  </a:lnTo>
                  <a:lnTo>
                    <a:pt x="3287" y="408951"/>
                  </a:lnTo>
                  <a:lnTo>
                    <a:pt x="0" y="360089"/>
                  </a:lnTo>
                  <a:lnTo>
                    <a:pt x="3287" y="311227"/>
                  </a:lnTo>
                  <a:lnTo>
                    <a:pt x="12862" y="264363"/>
                  </a:lnTo>
                  <a:lnTo>
                    <a:pt x="28297" y="219926"/>
                  </a:lnTo>
                  <a:lnTo>
                    <a:pt x="49162" y="178345"/>
                  </a:lnTo>
                  <a:lnTo>
                    <a:pt x="75029" y="140049"/>
                  </a:lnTo>
                  <a:lnTo>
                    <a:pt x="105467" y="105467"/>
                  </a:lnTo>
                  <a:lnTo>
                    <a:pt x="140049" y="75029"/>
                  </a:lnTo>
                  <a:lnTo>
                    <a:pt x="178345" y="49162"/>
                  </a:lnTo>
                  <a:lnTo>
                    <a:pt x="219926" y="28297"/>
                  </a:lnTo>
                  <a:lnTo>
                    <a:pt x="264363" y="12862"/>
                  </a:lnTo>
                  <a:lnTo>
                    <a:pt x="311227" y="3287"/>
                  </a:lnTo>
                  <a:lnTo>
                    <a:pt x="360089" y="0"/>
                  </a:lnTo>
                  <a:lnTo>
                    <a:pt x="408951" y="3287"/>
                  </a:lnTo>
                  <a:lnTo>
                    <a:pt x="455815" y="12862"/>
                  </a:lnTo>
                  <a:lnTo>
                    <a:pt x="500251" y="28297"/>
                  </a:lnTo>
                  <a:lnTo>
                    <a:pt x="541832" y="49162"/>
                  </a:lnTo>
                  <a:lnTo>
                    <a:pt x="580128" y="75029"/>
                  </a:lnTo>
                  <a:lnTo>
                    <a:pt x="614710" y="105467"/>
                  </a:lnTo>
                  <a:lnTo>
                    <a:pt x="645149" y="140049"/>
                  </a:lnTo>
                  <a:lnTo>
                    <a:pt x="671015" y="178345"/>
                  </a:lnTo>
                  <a:lnTo>
                    <a:pt x="691880" y="219926"/>
                  </a:lnTo>
                  <a:lnTo>
                    <a:pt x="707315" y="264363"/>
                  </a:lnTo>
                  <a:lnTo>
                    <a:pt x="716890" y="311227"/>
                  </a:lnTo>
                  <a:lnTo>
                    <a:pt x="720178" y="360089"/>
                  </a:lnTo>
                  <a:lnTo>
                    <a:pt x="716890" y="408951"/>
                  </a:lnTo>
                  <a:lnTo>
                    <a:pt x="707315" y="455814"/>
                  </a:lnTo>
                  <a:lnTo>
                    <a:pt x="691880" y="500251"/>
                  </a:lnTo>
                  <a:lnTo>
                    <a:pt x="671015" y="541832"/>
                  </a:lnTo>
                  <a:lnTo>
                    <a:pt x="645149" y="580128"/>
                  </a:lnTo>
                  <a:lnTo>
                    <a:pt x="614710" y="614710"/>
                  </a:lnTo>
                  <a:lnTo>
                    <a:pt x="580128" y="645148"/>
                  </a:lnTo>
                  <a:lnTo>
                    <a:pt x="541832" y="671015"/>
                  </a:lnTo>
                  <a:lnTo>
                    <a:pt x="500251" y="691880"/>
                  </a:lnTo>
                  <a:lnTo>
                    <a:pt x="455815" y="707315"/>
                  </a:lnTo>
                  <a:lnTo>
                    <a:pt x="408951" y="716890"/>
                  </a:lnTo>
                  <a:lnTo>
                    <a:pt x="360089" y="720178"/>
                  </a:lnTo>
                  <a:close/>
                </a:path>
              </a:pathLst>
            </a:custGeom>
            <a:solidFill>
              <a:srgbClr val="2E8E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71246" y="2802986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89" h="720089">
                  <a:moveTo>
                    <a:pt x="360015" y="0"/>
                  </a:moveTo>
                  <a:lnTo>
                    <a:pt x="311163" y="3286"/>
                  </a:lnTo>
                  <a:lnTo>
                    <a:pt x="264308" y="12860"/>
                  </a:lnTo>
                  <a:lnTo>
                    <a:pt x="219881" y="28291"/>
                  </a:lnTo>
                  <a:lnTo>
                    <a:pt x="178308" y="49152"/>
                  </a:lnTo>
                  <a:lnTo>
                    <a:pt x="140020" y="75013"/>
                  </a:lnTo>
                  <a:lnTo>
                    <a:pt x="105446" y="105446"/>
                  </a:lnTo>
                  <a:lnTo>
                    <a:pt x="75013" y="140020"/>
                  </a:lnTo>
                  <a:lnTo>
                    <a:pt x="49152" y="178308"/>
                  </a:lnTo>
                  <a:lnTo>
                    <a:pt x="28291" y="219881"/>
                  </a:lnTo>
                  <a:lnTo>
                    <a:pt x="12860" y="264308"/>
                  </a:lnTo>
                  <a:lnTo>
                    <a:pt x="3286" y="311163"/>
                  </a:lnTo>
                  <a:lnTo>
                    <a:pt x="0" y="360015"/>
                  </a:lnTo>
                  <a:lnTo>
                    <a:pt x="3286" y="408867"/>
                  </a:lnTo>
                  <a:lnTo>
                    <a:pt x="12860" y="455721"/>
                  </a:lnTo>
                  <a:lnTo>
                    <a:pt x="28291" y="500149"/>
                  </a:lnTo>
                  <a:lnTo>
                    <a:pt x="49152" y="541721"/>
                  </a:lnTo>
                  <a:lnTo>
                    <a:pt x="75013" y="580009"/>
                  </a:lnTo>
                  <a:lnTo>
                    <a:pt x="105446" y="614584"/>
                  </a:lnTo>
                  <a:lnTo>
                    <a:pt x="140020" y="645016"/>
                  </a:lnTo>
                  <a:lnTo>
                    <a:pt x="178308" y="670877"/>
                  </a:lnTo>
                  <a:lnTo>
                    <a:pt x="219881" y="691738"/>
                  </a:lnTo>
                  <a:lnTo>
                    <a:pt x="264308" y="707170"/>
                  </a:lnTo>
                  <a:lnTo>
                    <a:pt x="311163" y="716743"/>
                  </a:lnTo>
                  <a:lnTo>
                    <a:pt x="360015" y="720030"/>
                  </a:lnTo>
                  <a:lnTo>
                    <a:pt x="408867" y="716743"/>
                  </a:lnTo>
                  <a:lnTo>
                    <a:pt x="455721" y="707170"/>
                  </a:lnTo>
                  <a:lnTo>
                    <a:pt x="500149" y="691738"/>
                  </a:lnTo>
                  <a:lnTo>
                    <a:pt x="541721" y="670877"/>
                  </a:lnTo>
                  <a:lnTo>
                    <a:pt x="580009" y="645016"/>
                  </a:lnTo>
                  <a:lnTo>
                    <a:pt x="614584" y="614584"/>
                  </a:lnTo>
                  <a:lnTo>
                    <a:pt x="645016" y="580009"/>
                  </a:lnTo>
                  <a:lnTo>
                    <a:pt x="670877" y="541721"/>
                  </a:lnTo>
                  <a:lnTo>
                    <a:pt x="691738" y="500149"/>
                  </a:lnTo>
                  <a:lnTo>
                    <a:pt x="707170" y="455721"/>
                  </a:lnTo>
                  <a:lnTo>
                    <a:pt x="716743" y="408867"/>
                  </a:lnTo>
                  <a:lnTo>
                    <a:pt x="720030" y="360015"/>
                  </a:lnTo>
                  <a:lnTo>
                    <a:pt x="716743" y="311163"/>
                  </a:lnTo>
                  <a:lnTo>
                    <a:pt x="707170" y="264308"/>
                  </a:lnTo>
                  <a:lnTo>
                    <a:pt x="691738" y="219881"/>
                  </a:lnTo>
                  <a:lnTo>
                    <a:pt x="670877" y="178308"/>
                  </a:lnTo>
                  <a:lnTo>
                    <a:pt x="645016" y="140020"/>
                  </a:lnTo>
                  <a:lnTo>
                    <a:pt x="614584" y="105446"/>
                  </a:lnTo>
                  <a:lnTo>
                    <a:pt x="580009" y="75013"/>
                  </a:lnTo>
                  <a:lnTo>
                    <a:pt x="541721" y="49152"/>
                  </a:lnTo>
                  <a:lnTo>
                    <a:pt x="500149" y="28291"/>
                  </a:lnTo>
                  <a:lnTo>
                    <a:pt x="455721" y="12860"/>
                  </a:lnTo>
                  <a:lnTo>
                    <a:pt x="408867" y="3286"/>
                  </a:lnTo>
                  <a:lnTo>
                    <a:pt x="36001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73975" y="1402625"/>
              <a:ext cx="7739380" cy="2028825"/>
            </a:xfrm>
            <a:custGeom>
              <a:avLst/>
              <a:gdLst/>
              <a:ahLst/>
              <a:cxnLst/>
              <a:rect l="l" t="t" r="r" b="b"/>
              <a:pathLst>
                <a:path w="7739380" h="2028825">
                  <a:moveTo>
                    <a:pt x="525513" y="1765858"/>
                  </a:moveTo>
                  <a:lnTo>
                    <a:pt x="451700" y="1763052"/>
                  </a:lnTo>
                  <a:lnTo>
                    <a:pt x="393623" y="1758391"/>
                  </a:lnTo>
                  <a:lnTo>
                    <a:pt x="349326" y="1749907"/>
                  </a:lnTo>
                  <a:lnTo>
                    <a:pt x="316852" y="1735645"/>
                  </a:lnTo>
                  <a:lnTo>
                    <a:pt x="327304" y="1716468"/>
                  </a:lnTo>
                  <a:lnTo>
                    <a:pt x="342455" y="1694992"/>
                  </a:lnTo>
                  <a:lnTo>
                    <a:pt x="362292" y="1670380"/>
                  </a:lnTo>
                  <a:lnTo>
                    <a:pt x="386816" y="1641792"/>
                  </a:lnTo>
                  <a:lnTo>
                    <a:pt x="358228" y="1666316"/>
                  </a:lnTo>
                  <a:lnTo>
                    <a:pt x="333616" y="1686153"/>
                  </a:lnTo>
                  <a:lnTo>
                    <a:pt x="312140" y="1701304"/>
                  </a:lnTo>
                  <a:lnTo>
                    <a:pt x="292976" y="1711756"/>
                  </a:lnTo>
                  <a:lnTo>
                    <a:pt x="278701" y="1679282"/>
                  </a:lnTo>
                  <a:lnTo>
                    <a:pt x="270217" y="1634985"/>
                  </a:lnTo>
                  <a:lnTo>
                    <a:pt x="265557" y="1576920"/>
                  </a:lnTo>
                  <a:lnTo>
                    <a:pt x="262750" y="1503095"/>
                  </a:lnTo>
                  <a:lnTo>
                    <a:pt x="259956" y="1576920"/>
                  </a:lnTo>
                  <a:lnTo>
                    <a:pt x="255295" y="1634985"/>
                  </a:lnTo>
                  <a:lnTo>
                    <a:pt x="246811" y="1679282"/>
                  </a:lnTo>
                  <a:lnTo>
                    <a:pt x="232537" y="1711756"/>
                  </a:lnTo>
                  <a:lnTo>
                    <a:pt x="213360" y="1701304"/>
                  </a:lnTo>
                  <a:lnTo>
                    <a:pt x="191897" y="1686153"/>
                  </a:lnTo>
                  <a:lnTo>
                    <a:pt x="167284" y="1666316"/>
                  </a:lnTo>
                  <a:lnTo>
                    <a:pt x="138684" y="1641792"/>
                  </a:lnTo>
                  <a:lnTo>
                    <a:pt x="163220" y="1670380"/>
                  </a:lnTo>
                  <a:lnTo>
                    <a:pt x="183057" y="1694992"/>
                  </a:lnTo>
                  <a:lnTo>
                    <a:pt x="198196" y="1716468"/>
                  </a:lnTo>
                  <a:lnTo>
                    <a:pt x="208661" y="1735645"/>
                  </a:lnTo>
                  <a:lnTo>
                    <a:pt x="176174" y="1749907"/>
                  </a:lnTo>
                  <a:lnTo>
                    <a:pt x="131889" y="1758391"/>
                  </a:lnTo>
                  <a:lnTo>
                    <a:pt x="73812" y="1763052"/>
                  </a:lnTo>
                  <a:lnTo>
                    <a:pt x="0" y="1765858"/>
                  </a:lnTo>
                  <a:lnTo>
                    <a:pt x="73812" y="1768652"/>
                  </a:lnTo>
                  <a:lnTo>
                    <a:pt x="131889" y="1773313"/>
                  </a:lnTo>
                  <a:lnTo>
                    <a:pt x="176174" y="1781797"/>
                  </a:lnTo>
                  <a:lnTo>
                    <a:pt x="208661" y="1796072"/>
                  </a:lnTo>
                  <a:lnTo>
                    <a:pt x="198196" y="1815249"/>
                  </a:lnTo>
                  <a:lnTo>
                    <a:pt x="183057" y="1836724"/>
                  </a:lnTo>
                  <a:lnTo>
                    <a:pt x="163220" y="1861324"/>
                  </a:lnTo>
                  <a:lnTo>
                    <a:pt x="138684" y="1889925"/>
                  </a:lnTo>
                  <a:lnTo>
                    <a:pt x="167284" y="1865388"/>
                  </a:lnTo>
                  <a:lnTo>
                    <a:pt x="191897" y="1845551"/>
                  </a:lnTo>
                  <a:lnTo>
                    <a:pt x="213360" y="1830412"/>
                  </a:lnTo>
                  <a:lnTo>
                    <a:pt x="232537" y="1819960"/>
                  </a:lnTo>
                  <a:lnTo>
                    <a:pt x="246811" y="1852434"/>
                  </a:lnTo>
                  <a:lnTo>
                    <a:pt x="255295" y="1896719"/>
                  </a:lnTo>
                  <a:lnTo>
                    <a:pt x="259956" y="1954796"/>
                  </a:lnTo>
                  <a:lnTo>
                    <a:pt x="262750" y="2028609"/>
                  </a:lnTo>
                  <a:lnTo>
                    <a:pt x="265557" y="1954796"/>
                  </a:lnTo>
                  <a:lnTo>
                    <a:pt x="270217" y="1896719"/>
                  </a:lnTo>
                  <a:lnTo>
                    <a:pt x="278701" y="1852434"/>
                  </a:lnTo>
                  <a:lnTo>
                    <a:pt x="292976" y="1819960"/>
                  </a:lnTo>
                  <a:lnTo>
                    <a:pt x="312140" y="1830412"/>
                  </a:lnTo>
                  <a:lnTo>
                    <a:pt x="333616" y="1845551"/>
                  </a:lnTo>
                  <a:lnTo>
                    <a:pt x="358228" y="1865388"/>
                  </a:lnTo>
                  <a:lnTo>
                    <a:pt x="386816" y="1889925"/>
                  </a:lnTo>
                  <a:lnTo>
                    <a:pt x="362292" y="1861324"/>
                  </a:lnTo>
                  <a:lnTo>
                    <a:pt x="342455" y="1836724"/>
                  </a:lnTo>
                  <a:lnTo>
                    <a:pt x="327304" y="1815249"/>
                  </a:lnTo>
                  <a:lnTo>
                    <a:pt x="316852" y="1796072"/>
                  </a:lnTo>
                  <a:lnTo>
                    <a:pt x="349326" y="1781797"/>
                  </a:lnTo>
                  <a:lnTo>
                    <a:pt x="393623" y="1773313"/>
                  </a:lnTo>
                  <a:lnTo>
                    <a:pt x="451700" y="1768652"/>
                  </a:lnTo>
                  <a:lnTo>
                    <a:pt x="525513" y="1765858"/>
                  </a:lnTo>
                  <a:close/>
                </a:path>
                <a:path w="7739380" h="2028825">
                  <a:moveTo>
                    <a:pt x="7738821" y="253644"/>
                  </a:moveTo>
                  <a:lnTo>
                    <a:pt x="7677709" y="250088"/>
                  </a:lnTo>
                  <a:lnTo>
                    <a:pt x="7613828" y="247840"/>
                  </a:lnTo>
                  <a:lnTo>
                    <a:pt x="7558811" y="246735"/>
                  </a:lnTo>
                  <a:lnTo>
                    <a:pt x="7504925" y="246265"/>
                  </a:lnTo>
                  <a:lnTo>
                    <a:pt x="7506068" y="246265"/>
                  </a:lnTo>
                  <a:lnTo>
                    <a:pt x="7544143" y="207505"/>
                  </a:lnTo>
                  <a:lnTo>
                    <a:pt x="7581786" y="168300"/>
                  </a:lnTo>
                  <a:lnTo>
                    <a:pt x="7625067" y="121843"/>
                  </a:lnTo>
                  <a:lnTo>
                    <a:pt x="7667307" y="74345"/>
                  </a:lnTo>
                  <a:lnTo>
                    <a:pt x="7643520" y="95186"/>
                  </a:lnTo>
                  <a:lnTo>
                    <a:pt x="7596492" y="138112"/>
                  </a:lnTo>
                  <a:lnTo>
                    <a:pt x="7553706" y="178612"/>
                  </a:lnTo>
                  <a:lnTo>
                    <a:pt x="7514730" y="216484"/>
                  </a:lnTo>
                  <a:lnTo>
                    <a:pt x="7495387" y="235585"/>
                  </a:lnTo>
                  <a:lnTo>
                    <a:pt x="7494968" y="187960"/>
                  </a:lnTo>
                  <a:lnTo>
                    <a:pt x="7493787" y="126911"/>
                  </a:lnTo>
                  <a:lnTo>
                    <a:pt x="7491552" y="63461"/>
                  </a:lnTo>
                  <a:lnTo>
                    <a:pt x="7487831" y="0"/>
                  </a:lnTo>
                  <a:lnTo>
                    <a:pt x="7485723" y="31724"/>
                  </a:lnTo>
                  <a:lnTo>
                    <a:pt x="7484097" y="63461"/>
                  </a:lnTo>
                  <a:lnTo>
                    <a:pt x="7482840" y="95186"/>
                  </a:lnTo>
                  <a:lnTo>
                    <a:pt x="7482751" y="98259"/>
                  </a:lnTo>
                  <a:lnTo>
                    <a:pt x="7481862" y="126911"/>
                  </a:lnTo>
                  <a:lnTo>
                    <a:pt x="7480808" y="178612"/>
                  </a:lnTo>
                  <a:lnTo>
                    <a:pt x="7480325" y="226936"/>
                  </a:lnTo>
                  <a:lnTo>
                    <a:pt x="7480274" y="235585"/>
                  </a:lnTo>
                  <a:lnTo>
                    <a:pt x="7460945" y="216484"/>
                  </a:lnTo>
                  <a:lnTo>
                    <a:pt x="7421981" y="178612"/>
                  </a:lnTo>
                  <a:lnTo>
                    <a:pt x="7379182" y="138112"/>
                  </a:lnTo>
                  <a:lnTo>
                    <a:pt x="7332154" y="95186"/>
                  </a:lnTo>
                  <a:lnTo>
                    <a:pt x="7308342" y="74345"/>
                  </a:lnTo>
                  <a:lnTo>
                    <a:pt x="7329284" y="98259"/>
                  </a:lnTo>
                  <a:lnTo>
                    <a:pt x="7372096" y="145173"/>
                  </a:lnTo>
                  <a:lnTo>
                    <a:pt x="7412609" y="187960"/>
                  </a:lnTo>
                  <a:lnTo>
                    <a:pt x="7450480" y="226936"/>
                  </a:lnTo>
                  <a:lnTo>
                    <a:pt x="7469581" y="246265"/>
                  </a:lnTo>
                  <a:lnTo>
                    <a:pt x="7388072" y="247205"/>
                  </a:lnTo>
                  <a:lnTo>
                    <a:pt x="7329183" y="248818"/>
                  </a:lnTo>
                  <a:lnTo>
                    <a:pt x="7297458" y="250088"/>
                  </a:lnTo>
                  <a:lnTo>
                    <a:pt x="7265733" y="251714"/>
                  </a:lnTo>
                  <a:lnTo>
                    <a:pt x="7233996" y="253822"/>
                  </a:lnTo>
                  <a:lnTo>
                    <a:pt x="7265543" y="255930"/>
                  </a:lnTo>
                  <a:lnTo>
                    <a:pt x="7328484" y="258813"/>
                  </a:lnTo>
                  <a:lnTo>
                    <a:pt x="7386942" y="260426"/>
                  </a:lnTo>
                  <a:lnTo>
                    <a:pt x="7440117" y="261213"/>
                  </a:lnTo>
                  <a:lnTo>
                    <a:pt x="7469581" y="261378"/>
                  </a:lnTo>
                  <a:lnTo>
                    <a:pt x="7450480" y="280708"/>
                  </a:lnTo>
                  <a:lnTo>
                    <a:pt x="7412609" y="319671"/>
                  </a:lnTo>
                  <a:lnTo>
                    <a:pt x="7372109" y="362470"/>
                  </a:lnTo>
                  <a:lnTo>
                    <a:pt x="7329284" y="409384"/>
                  </a:lnTo>
                  <a:lnTo>
                    <a:pt x="7308342" y="433311"/>
                  </a:lnTo>
                  <a:lnTo>
                    <a:pt x="7332281" y="412356"/>
                  </a:lnTo>
                  <a:lnTo>
                    <a:pt x="7379208" y="369531"/>
                  </a:lnTo>
                  <a:lnTo>
                    <a:pt x="7421994" y="329018"/>
                  </a:lnTo>
                  <a:lnTo>
                    <a:pt x="7460958" y="291160"/>
                  </a:lnTo>
                  <a:lnTo>
                    <a:pt x="7480262" y="272084"/>
                  </a:lnTo>
                  <a:lnTo>
                    <a:pt x="7480376" y="291160"/>
                  </a:lnTo>
                  <a:lnTo>
                    <a:pt x="7481202" y="353568"/>
                  </a:lnTo>
                  <a:lnTo>
                    <a:pt x="7482814" y="412356"/>
                  </a:lnTo>
                  <a:lnTo>
                    <a:pt x="7485710" y="475919"/>
                  </a:lnTo>
                  <a:lnTo>
                    <a:pt x="7487640" y="504825"/>
                  </a:lnTo>
                  <a:lnTo>
                    <a:pt x="7488009" y="504825"/>
                  </a:lnTo>
                  <a:lnTo>
                    <a:pt x="7489939" y="475919"/>
                  </a:lnTo>
                  <a:lnTo>
                    <a:pt x="7491565" y="444195"/>
                  </a:lnTo>
                  <a:lnTo>
                    <a:pt x="7492835" y="412356"/>
                  </a:lnTo>
                  <a:lnTo>
                    <a:pt x="7492924" y="409384"/>
                  </a:lnTo>
                  <a:lnTo>
                    <a:pt x="7493813" y="380746"/>
                  </a:lnTo>
                  <a:lnTo>
                    <a:pt x="7494867" y="329018"/>
                  </a:lnTo>
                  <a:lnTo>
                    <a:pt x="7495095" y="310146"/>
                  </a:lnTo>
                  <a:lnTo>
                    <a:pt x="7495210" y="300139"/>
                  </a:lnTo>
                  <a:lnTo>
                    <a:pt x="7495273" y="291160"/>
                  </a:lnTo>
                  <a:lnTo>
                    <a:pt x="7495387" y="272072"/>
                  </a:lnTo>
                  <a:lnTo>
                    <a:pt x="7514717" y="291160"/>
                  </a:lnTo>
                  <a:lnTo>
                    <a:pt x="7553693" y="329018"/>
                  </a:lnTo>
                  <a:lnTo>
                    <a:pt x="7596479" y="369531"/>
                  </a:lnTo>
                  <a:lnTo>
                    <a:pt x="7643393" y="412356"/>
                  </a:lnTo>
                  <a:lnTo>
                    <a:pt x="7667307" y="433311"/>
                  </a:lnTo>
                  <a:lnTo>
                    <a:pt x="7646352" y="409384"/>
                  </a:lnTo>
                  <a:lnTo>
                    <a:pt x="7603503" y="362470"/>
                  </a:lnTo>
                  <a:lnTo>
                    <a:pt x="7563015" y="319671"/>
                  </a:lnTo>
                  <a:lnTo>
                    <a:pt x="7525144" y="280708"/>
                  </a:lnTo>
                  <a:lnTo>
                    <a:pt x="7516609" y="272072"/>
                  </a:lnTo>
                  <a:lnTo>
                    <a:pt x="7506055" y="261378"/>
                  </a:lnTo>
                  <a:lnTo>
                    <a:pt x="7614742" y="259791"/>
                  </a:lnTo>
                  <a:lnTo>
                    <a:pt x="7678191" y="257556"/>
                  </a:lnTo>
                  <a:lnTo>
                    <a:pt x="7738821" y="254012"/>
                  </a:lnTo>
                  <a:lnTo>
                    <a:pt x="7738821" y="253644"/>
                  </a:lnTo>
                  <a:close/>
                </a:path>
              </a:pathLst>
            </a:custGeom>
            <a:solidFill>
              <a:srgbClr val="040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53273" y="246506"/>
            <a:ext cx="17552035" cy="1726426"/>
          </a:xfrm>
          <a:prstGeom prst="rect">
            <a:avLst/>
          </a:prstGeom>
        </p:spPr>
        <p:txBody>
          <a:bodyPr vert="horz" wrap="square" lIns="0" tIns="1298249" rIns="0" bIns="0" rtlCol="0">
            <a:spAutoFit/>
          </a:bodyPr>
          <a:lstStyle/>
          <a:p>
            <a:pPr marL="11281410">
              <a:lnSpc>
                <a:spcPct val="100000"/>
              </a:lnSpc>
              <a:spcBef>
                <a:spcPts val="100"/>
              </a:spcBef>
            </a:pPr>
            <a:r>
              <a:rPr lang="en-US" sz="2700" spc="-120" dirty="0">
                <a:latin typeface="Courier New"/>
                <a:cs typeface="Courier New"/>
                <a:hlinkClick r:id="rId3" action="ppaction://hlinksldjump"/>
              </a:rPr>
              <a:t>Project</a:t>
            </a:r>
            <a:r>
              <a:rPr sz="2700" spc="-120" dirty="0">
                <a:latin typeface="Courier New"/>
                <a:cs typeface="Courier New"/>
                <a:hlinkClick r:id="rId3" action="ppaction://hlinksldjump"/>
              </a:rPr>
              <a:t> </a:t>
            </a:r>
            <a:r>
              <a:rPr sz="2700" spc="-10" dirty="0">
                <a:latin typeface="Courier New"/>
                <a:cs typeface="Courier New"/>
                <a:hlinkClick r:id="rId3" action="ppaction://hlinksldjump"/>
              </a:rPr>
              <a:t>Overview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21985" y="2492740"/>
            <a:ext cx="59918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ourier New"/>
                <a:cs typeface="Courier New"/>
                <a:hlinkClick r:id="rId4" action="ppaction://hlinksldjump"/>
              </a:rPr>
              <a:t>Business</a:t>
            </a:r>
            <a:r>
              <a:rPr sz="2700" spc="-135" dirty="0">
                <a:latin typeface="Courier New"/>
                <a:cs typeface="Courier New"/>
                <a:hlinkClick r:id="rId4" action="ppaction://hlinksldjump"/>
              </a:rPr>
              <a:t> </a:t>
            </a:r>
            <a:r>
              <a:rPr sz="2700" spc="-10" dirty="0">
                <a:latin typeface="Courier New"/>
                <a:cs typeface="Courier New"/>
                <a:hlinkClick r:id="rId4" action="ppaction://hlinksldjump"/>
              </a:rPr>
              <a:t>Problem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700" dirty="0">
                <a:latin typeface="Courier New"/>
                <a:cs typeface="Courier New"/>
                <a:hlinkClick r:id="rId5" action="ppaction://hlinksldjump"/>
              </a:rPr>
              <a:t>Problem</a:t>
            </a:r>
            <a:r>
              <a:rPr sz="2700" spc="-100" dirty="0">
                <a:latin typeface="Courier New"/>
                <a:cs typeface="Courier New"/>
                <a:hlinkClick r:id="rId5" action="ppaction://hlinksldjump"/>
              </a:rPr>
              <a:t> </a:t>
            </a:r>
            <a:r>
              <a:rPr sz="2700" dirty="0">
                <a:latin typeface="Courier New"/>
                <a:cs typeface="Courier New"/>
                <a:hlinkClick r:id="rId5" action="ppaction://hlinksldjump"/>
              </a:rPr>
              <a:t>Statement</a:t>
            </a:r>
            <a:r>
              <a:rPr sz="2700" spc="-95" dirty="0">
                <a:latin typeface="Courier New"/>
                <a:cs typeface="Courier New"/>
                <a:hlinkClick r:id="rId5" action="ppaction://hlinksldjump"/>
              </a:rPr>
              <a:t> </a:t>
            </a:r>
            <a:r>
              <a:rPr sz="2700" dirty="0">
                <a:latin typeface="Courier New"/>
                <a:cs typeface="Courier New"/>
                <a:hlinkClick r:id="rId5" action="ppaction://hlinksldjump"/>
              </a:rPr>
              <a:t>&amp;</a:t>
            </a:r>
            <a:r>
              <a:rPr sz="2700" spc="-100" dirty="0">
                <a:latin typeface="Courier New"/>
                <a:cs typeface="Courier New"/>
                <a:hlinkClick r:id="rId5" action="ppaction://hlinksldjump"/>
              </a:rPr>
              <a:t> </a:t>
            </a:r>
            <a:r>
              <a:rPr sz="2700" spc="-10" dirty="0">
                <a:latin typeface="Courier New"/>
                <a:cs typeface="Courier New"/>
                <a:hlinkClick r:id="rId5" action="ppaction://hlinksldjump"/>
              </a:rPr>
              <a:t>Objective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521985" y="4414110"/>
            <a:ext cx="22885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ourier New"/>
                <a:cs typeface="Courier New"/>
                <a:hlinkClick r:id="rId6" action="ppaction://hlinksldjump"/>
              </a:rPr>
              <a:t>Methodology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21985" y="5374794"/>
            <a:ext cx="37287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ourier New"/>
                <a:cs typeface="Courier New"/>
                <a:hlinkClick r:id="rId7" action="ppaction://hlinksldjump"/>
              </a:rPr>
              <a:t>Analysis</a:t>
            </a:r>
            <a:r>
              <a:rPr sz="2700" spc="-80" dirty="0">
                <a:latin typeface="Courier New"/>
                <a:cs typeface="Courier New"/>
                <a:hlinkClick r:id="rId7" action="ppaction://hlinksldjump"/>
              </a:rPr>
              <a:t> </a:t>
            </a:r>
            <a:r>
              <a:rPr sz="2700" dirty="0">
                <a:latin typeface="Courier New"/>
                <a:cs typeface="Courier New"/>
                <a:hlinkClick r:id="rId7" action="ppaction://hlinksldjump"/>
              </a:rPr>
              <a:t>&amp;</a:t>
            </a:r>
            <a:r>
              <a:rPr sz="2700" spc="-80" dirty="0">
                <a:latin typeface="Courier New"/>
                <a:cs typeface="Courier New"/>
                <a:hlinkClick r:id="rId7" action="ppaction://hlinksldjump"/>
              </a:rPr>
              <a:t> </a:t>
            </a:r>
            <a:r>
              <a:rPr sz="2700" spc="-10" dirty="0">
                <a:latin typeface="Courier New"/>
                <a:cs typeface="Courier New"/>
                <a:hlinkClick r:id="rId7" action="ppaction://hlinksldjump"/>
              </a:rPr>
              <a:t>Insight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21985" y="6335479"/>
            <a:ext cx="3111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ourier New"/>
                <a:cs typeface="Courier New"/>
                <a:hlinkClick r:id="" action="ppaction://noaction"/>
              </a:rPr>
              <a:t>Recommendations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21985" y="7296163"/>
            <a:ext cx="1671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ourier New"/>
                <a:cs typeface="Courier New"/>
                <a:hlinkClick r:id="rId8" action="ppaction://hlinksldjump"/>
              </a:rPr>
              <a:t>Appendix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88700" y="7974310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5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8700" y="3899803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5" h="273050">
                <a:moveTo>
                  <a:pt x="155801" y="272653"/>
                </a:moveTo>
                <a:lnTo>
                  <a:pt x="0" y="0"/>
                </a:lnTo>
                <a:lnTo>
                  <a:pt x="311603" y="0"/>
                </a:lnTo>
                <a:lnTo>
                  <a:pt x="155801" y="272653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32" name="object 32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5759" y="3871861"/>
            <a:ext cx="7573763" cy="44771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95"/>
              </a:spcBef>
            </a:pPr>
            <a:r>
              <a:rPr lang="en-US" sz="2600" dirty="0">
                <a:latin typeface="Arial MT"/>
              </a:rPr>
              <a:t>This project provides actionable business insights by combining Cohort Retention Analysis and RFM Customer Segmentation to understand both when customers churn and which customers are worth retaining.</a:t>
            </a:r>
          </a:p>
          <a:p>
            <a:pPr marL="12700" marR="5080" algn="just">
              <a:lnSpc>
                <a:spcPct val="125000"/>
              </a:lnSpc>
              <a:spcBef>
                <a:spcPts val="95"/>
              </a:spcBef>
            </a:pPr>
            <a:r>
              <a:rPr lang="en-US" sz="2600" dirty="0">
                <a:latin typeface="Arial MT"/>
              </a:rPr>
              <a:t>This dataset cover retail fashion transactions from 2021-2024, but this analysis focuses on 2023-2024 to reflect current business conditions and provide relevant strategic recommendations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65759" y="1528266"/>
            <a:ext cx="704469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spc="-1330" dirty="0"/>
              <a:t>Project Overview</a:t>
            </a:r>
            <a:endParaRPr sz="8000" dirty="0"/>
          </a:p>
        </p:txBody>
      </p:sp>
      <p:grpSp>
        <p:nvGrpSpPr>
          <p:cNvPr id="5" name="object 5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6" name="object 6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7AF58B-193C-4933-B081-C53F495CE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790700"/>
            <a:ext cx="8449056" cy="65582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510" y="1350784"/>
            <a:ext cx="482663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0" spc="-1030" dirty="0"/>
              <a:t>BUSINESS </a:t>
            </a:r>
            <a:r>
              <a:rPr sz="8000" spc="-1115" dirty="0"/>
              <a:t>PROBLEM</a:t>
            </a:r>
            <a:endParaRPr sz="8000" dirty="0"/>
          </a:p>
        </p:txBody>
      </p:sp>
      <p:sp>
        <p:nvSpPr>
          <p:cNvPr id="12" name="object 12"/>
          <p:cNvSpPr txBox="1"/>
          <p:nvPr/>
        </p:nvSpPr>
        <p:spPr>
          <a:xfrm>
            <a:off x="152400" y="4001164"/>
            <a:ext cx="6883400" cy="3660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95"/>
              </a:spcBef>
            </a:pPr>
            <a:r>
              <a:rPr lang="en-US" sz="2400" dirty="0">
                <a:latin typeface="Arial MT"/>
              </a:rPr>
              <a:t>A retail fashion company faces a critical retention crisis where 95% of customers never return after their first purchase, leading to a 99.6% collapse in new customer acquisition (265 customer -&gt; 1 customer over 2 years). The business is projected to lose 15-20% of revenue without immediate intervention to shift acquisition-dependent to retention-focused strategy</a:t>
            </a:r>
            <a:endParaRPr sz="2400" dirty="0">
              <a:latin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15" name="object 15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B64985A-9245-4EFF-AE07-51C6DE09F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980" y="1533638"/>
            <a:ext cx="10705235" cy="71912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9221" y="6182296"/>
            <a:ext cx="15504794" cy="2348230"/>
            <a:chOff x="1389221" y="6182296"/>
            <a:chExt cx="15504794" cy="2348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9221" y="6215637"/>
              <a:ext cx="15497172" cy="23145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889249" y="6182296"/>
              <a:ext cx="0" cy="2331720"/>
            </a:xfrm>
            <a:custGeom>
              <a:avLst/>
              <a:gdLst/>
              <a:ahLst/>
              <a:cxnLst/>
              <a:rect l="l" t="t" r="r" b="b"/>
              <a:pathLst>
                <a:path h="2331720">
                  <a:moveTo>
                    <a:pt x="0" y="233154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8744" y="6182296"/>
              <a:ext cx="0" cy="2331720"/>
            </a:xfrm>
            <a:custGeom>
              <a:avLst/>
              <a:gdLst/>
              <a:ahLst/>
              <a:cxnLst/>
              <a:rect l="l" t="t" r="r" b="b"/>
              <a:pathLst>
                <a:path h="2331720">
                  <a:moveTo>
                    <a:pt x="0" y="233154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005919" y="2443742"/>
            <a:ext cx="5586730" cy="0"/>
          </a:xfrm>
          <a:custGeom>
            <a:avLst/>
            <a:gdLst/>
            <a:ahLst/>
            <a:cxnLst/>
            <a:rect l="l" t="t" r="r" b="b"/>
            <a:pathLst>
              <a:path w="5586730">
                <a:moveTo>
                  <a:pt x="0" y="0"/>
                </a:moveTo>
                <a:lnTo>
                  <a:pt x="558614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11199" y="5407724"/>
            <a:ext cx="5586730" cy="0"/>
          </a:xfrm>
          <a:custGeom>
            <a:avLst/>
            <a:gdLst/>
            <a:ahLst/>
            <a:cxnLst/>
            <a:rect l="l" t="t" r="r" b="b"/>
            <a:pathLst>
              <a:path w="5586730">
                <a:moveTo>
                  <a:pt x="5586146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03483" y="6191824"/>
            <a:ext cx="15481300" cy="0"/>
          </a:xfrm>
          <a:custGeom>
            <a:avLst/>
            <a:gdLst/>
            <a:ahLst/>
            <a:cxnLst/>
            <a:rect l="l" t="t" r="r" b="b"/>
            <a:pathLst>
              <a:path w="15481300">
                <a:moveTo>
                  <a:pt x="1548097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03483" y="8513843"/>
            <a:ext cx="15481300" cy="0"/>
          </a:xfrm>
          <a:custGeom>
            <a:avLst/>
            <a:gdLst/>
            <a:ahLst/>
            <a:cxnLst/>
            <a:rect l="l" t="t" r="r" b="b"/>
            <a:pathLst>
              <a:path w="15481300">
                <a:moveTo>
                  <a:pt x="1548097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11537" y="2443742"/>
            <a:ext cx="5586730" cy="0"/>
          </a:xfrm>
          <a:custGeom>
            <a:avLst/>
            <a:gdLst/>
            <a:ahLst/>
            <a:cxnLst/>
            <a:rect l="l" t="t" r="r" b="b"/>
            <a:pathLst>
              <a:path w="5586730">
                <a:moveTo>
                  <a:pt x="0" y="0"/>
                </a:moveTo>
                <a:lnTo>
                  <a:pt x="558614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005580" y="5407724"/>
            <a:ext cx="5586730" cy="0"/>
          </a:xfrm>
          <a:custGeom>
            <a:avLst/>
            <a:gdLst/>
            <a:ahLst/>
            <a:cxnLst/>
            <a:rect l="l" t="t" r="r" b="b"/>
            <a:pathLst>
              <a:path w="5586730">
                <a:moveTo>
                  <a:pt x="5586146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91807" y="233591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272653"/>
                </a:moveTo>
                <a:lnTo>
                  <a:pt x="0" y="0"/>
                </a:lnTo>
                <a:lnTo>
                  <a:pt x="311603" y="0"/>
                </a:lnTo>
                <a:lnTo>
                  <a:pt x="155801" y="272653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9763" y="5242749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97730" y="231686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2" y="272652"/>
                </a:moveTo>
                <a:lnTo>
                  <a:pt x="0" y="0"/>
                </a:lnTo>
                <a:lnTo>
                  <a:pt x="311603" y="0"/>
                </a:lnTo>
                <a:lnTo>
                  <a:pt x="155802" y="272652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93840" y="5261799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94143" y="231686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2" y="272652"/>
                </a:moveTo>
                <a:lnTo>
                  <a:pt x="0" y="0"/>
                </a:lnTo>
                <a:lnTo>
                  <a:pt x="311603" y="0"/>
                </a:lnTo>
                <a:lnTo>
                  <a:pt x="155801" y="272652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97426" y="5261799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0"/>
                </a:moveTo>
                <a:lnTo>
                  <a:pt x="311603" y="272653"/>
                </a:lnTo>
                <a:lnTo>
                  <a:pt x="0" y="272653"/>
                </a:lnTo>
                <a:lnTo>
                  <a:pt x="15580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99762" y="2335917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1" y="272653"/>
                </a:moveTo>
                <a:lnTo>
                  <a:pt x="0" y="0"/>
                </a:lnTo>
                <a:lnTo>
                  <a:pt x="311603" y="0"/>
                </a:lnTo>
                <a:lnTo>
                  <a:pt x="155801" y="272653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791806" y="5242750"/>
            <a:ext cx="311785" cy="273050"/>
          </a:xfrm>
          <a:custGeom>
            <a:avLst/>
            <a:gdLst/>
            <a:ahLst/>
            <a:cxnLst/>
            <a:rect l="l" t="t" r="r" b="b"/>
            <a:pathLst>
              <a:path w="311784" h="273050">
                <a:moveTo>
                  <a:pt x="155802" y="0"/>
                </a:moveTo>
                <a:lnTo>
                  <a:pt x="311603" y="272652"/>
                </a:lnTo>
                <a:lnTo>
                  <a:pt x="0" y="272652"/>
                </a:lnTo>
                <a:lnTo>
                  <a:pt x="155802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019174" y="7500277"/>
            <a:ext cx="729615" cy="729615"/>
            <a:chOff x="1019174" y="7500277"/>
            <a:chExt cx="729615" cy="729615"/>
          </a:xfrm>
        </p:grpSpPr>
        <p:sp>
          <p:nvSpPr>
            <p:cNvPr id="21" name="object 21"/>
            <p:cNvSpPr/>
            <p:nvPr/>
          </p:nvSpPr>
          <p:spPr>
            <a:xfrm>
              <a:off x="1028699" y="7509803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4" h="710565">
                  <a:moveTo>
                    <a:pt x="355179" y="710358"/>
                  </a:moveTo>
                  <a:lnTo>
                    <a:pt x="306983" y="707116"/>
                  </a:lnTo>
                  <a:lnTo>
                    <a:pt x="260758" y="697671"/>
                  </a:lnTo>
                  <a:lnTo>
                    <a:pt x="216927" y="682447"/>
                  </a:lnTo>
                  <a:lnTo>
                    <a:pt x="175913" y="661866"/>
                  </a:lnTo>
                  <a:lnTo>
                    <a:pt x="138139" y="636352"/>
                  </a:lnTo>
                  <a:lnTo>
                    <a:pt x="104029" y="606329"/>
                  </a:lnTo>
                  <a:lnTo>
                    <a:pt x="74006" y="572219"/>
                  </a:lnTo>
                  <a:lnTo>
                    <a:pt x="48492" y="534445"/>
                  </a:lnTo>
                  <a:lnTo>
                    <a:pt x="27911" y="493431"/>
                  </a:lnTo>
                  <a:lnTo>
                    <a:pt x="12687" y="449600"/>
                  </a:lnTo>
                  <a:lnTo>
                    <a:pt x="3242" y="403375"/>
                  </a:lnTo>
                  <a:lnTo>
                    <a:pt x="0" y="355179"/>
                  </a:lnTo>
                  <a:lnTo>
                    <a:pt x="3242" y="306983"/>
                  </a:lnTo>
                  <a:lnTo>
                    <a:pt x="12687" y="260758"/>
                  </a:lnTo>
                  <a:lnTo>
                    <a:pt x="27911" y="216927"/>
                  </a:lnTo>
                  <a:lnTo>
                    <a:pt x="48492" y="175913"/>
                  </a:lnTo>
                  <a:lnTo>
                    <a:pt x="74006" y="138139"/>
                  </a:lnTo>
                  <a:lnTo>
                    <a:pt x="104029" y="104029"/>
                  </a:lnTo>
                  <a:lnTo>
                    <a:pt x="138139" y="74006"/>
                  </a:lnTo>
                  <a:lnTo>
                    <a:pt x="175913" y="48492"/>
                  </a:lnTo>
                  <a:lnTo>
                    <a:pt x="216927" y="27911"/>
                  </a:lnTo>
                  <a:lnTo>
                    <a:pt x="260758" y="12687"/>
                  </a:lnTo>
                  <a:lnTo>
                    <a:pt x="306983" y="3242"/>
                  </a:lnTo>
                  <a:lnTo>
                    <a:pt x="355179" y="0"/>
                  </a:lnTo>
                  <a:lnTo>
                    <a:pt x="403375" y="3242"/>
                  </a:lnTo>
                  <a:lnTo>
                    <a:pt x="449600" y="12687"/>
                  </a:lnTo>
                  <a:lnTo>
                    <a:pt x="493431" y="27911"/>
                  </a:lnTo>
                  <a:lnTo>
                    <a:pt x="534445" y="48492"/>
                  </a:lnTo>
                  <a:lnTo>
                    <a:pt x="572219" y="74006"/>
                  </a:lnTo>
                  <a:lnTo>
                    <a:pt x="606329" y="104029"/>
                  </a:lnTo>
                  <a:lnTo>
                    <a:pt x="636352" y="138139"/>
                  </a:lnTo>
                  <a:lnTo>
                    <a:pt x="661866" y="175913"/>
                  </a:lnTo>
                  <a:lnTo>
                    <a:pt x="682447" y="216927"/>
                  </a:lnTo>
                  <a:lnTo>
                    <a:pt x="697671" y="260758"/>
                  </a:lnTo>
                  <a:lnTo>
                    <a:pt x="707116" y="306983"/>
                  </a:lnTo>
                  <a:lnTo>
                    <a:pt x="710358" y="355179"/>
                  </a:lnTo>
                  <a:lnTo>
                    <a:pt x="707116" y="403375"/>
                  </a:lnTo>
                  <a:lnTo>
                    <a:pt x="697671" y="449600"/>
                  </a:lnTo>
                  <a:lnTo>
                    <a:pt x="682447" y="493431"/>
                  </a:lnTo>
                  <a:lnTo>
                    <a:pt x="661866" y="534445"/>
                  </a:lnTo>
                  <a:lnTo>
                    <a:pt x="636352" y="572219"/>
                  </a:lnTo>
                  <a:lnTo>
                    <a:pt x="606329" y="606329"/>
                  </a:lnTo>
                  <a:lnTo>
                    <a:pt x="572219" y="636352"/>
                  </a:lnTo>
                  <a:lnTo>
                    <a:pt x="534445" y="661866"/>
                  </a:lnTo>
                  <a:lnTo>
                    <a:pt x="493431" y="682447"/>
                  </a:lnTo>
                  <a:lnTo>
                    <a:pt x="449600" y="697671"/>
                  </a:lnTo>
                  <a:lnTo>
                    <a:pt x="403375" y="707116"/>
                  </a:lnTo>
                  <a:lnTo>
                    <a:pt x="355179" y="710358"/>
                  </a:lnTo>
                  <a:close/>
                </a:path>
              </a:pathLst>
            </a:custGeom>
            <a:solidFill>
              <a:srgbClr val="FA6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8699" y="7509802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4" h="710565">
                  <a:moveTo>
                    <a:pt x="355178" y="0"/>
                  </a:moveTo>
                  <a:lnTo>
                    <a:pt x="306982" y="3242"/>
                  </a:lnTo>
                  <a:lnTo>
                    <a:pt x="260757" y="12687"/>
                  </a:lnTo>
                  <a:lnTo>
                    <a:pt x="216926" y="27911"/>
                  </a:lnTo>
                  <a:lnTo>
                    <a:pt x="175912" y="48492"/>
                  </a:lnTo>
                  <a:lnTo>
                    <a:pt x="138139" y="74005"/>
                  </a:lnTo>
                  <a:lnTo>
                    <a:pt x="104029" y="104029"/>
                  </a:lnTo>
                  <a:lnTo>
                    <a:pt x="74005" y="138139"/>
                  </a:lnTo>
                  <a:lnTo>
                    <a:pt x="48492" y="175912"/>
                  </a:lnTo>
                  <a:lnTo>
                    <a:pt x="27911" y="216926"/>
                  </a:lnTo>
                  <a:lnTo>
                    <a:pt x="12687" y="260757"/>
                  </a:lnTo>
                  <a:lnTo>
                    <a:pt x="3242" y="306982"/>
                  </a:lnTo>
                  <a:lnTo>
                    <a:pt x="0" y="355178"/>
                  </a:lnTo>
                  <a:lnTo>
                    <a:pt x="3242" y="403373"/>
                  </a:lnTo>
                  <a:lnTo>
                    <a:pt x="12687" y="449598"/>
                  </a:lnTo>
                  <a:lnTo>
                    <a:pt x="27911" y="493429"/>
                  </a:lnTo>
                  <a:lnTo>
                    <a:pt x="48492" y="534443"/>
                  </a:lnTo>
                  <a:lnTo>
                    <a:pt x="74005" y="572217"/>
                  </a:lnTo>
                  <a:lnTo>
                    <a:pt x="104029" y="606327"/>
                  </a:lnTo>
                  <a:lnTo>
                    <a:pt x="138139" y="636350"/>
                  </a:lnTo>
                  <a:lnTo>
                    <a:pt x="175912" y="661864"/>
                  </a:lnTo>
                  <a:lnTo>
                    <a:pt x="216926" y="682444"/>
                  </a:lnTo>
                  <a:lnTo>
                    <a:pt x="260757" y="697669"/>
                  </a:lnTo>
                  <a:lnTo>
                    <a:pt x="306982" y="707114"/>
                  </a:lnTo>
                  <a:lnTo>
                    <a:pt x="355178" y="710356"/>
                  </a:lnTo>
                  <a:lnTo>
                    <a:pt x="403373" y="707114"/>
                  </a:lnTo>
                  <a:lnTo>
                    <a:pt x="449598" y="697669"/>
                  </a:lnTo>
                  <a:lnTo>
                    <a:pt x="493429" y="682444"/>
                  </a:lnTo>
                  <a:lnTo>
                    <a:pt x="534443" y="661864"/>
                  </a:lnTo>
                  <a:lnTo>
                    <a:pt x="572217" y="636350"/>
                  </a:lnTo>
                  <a:lnTo>
                    <a:pt x="606327" y="606327"/>
                  </a:lnTo>
                  <a:lnTo>
                    <a:pt x="636350" y="572217"/>
                  </a:lnTo>
                  <a:lnTo>
                    <a:pt x="661864" y="534443"/>
                  </a:lnTo>
                  <a:lnTo>
                    <a:pt x="682444" y="493429"/>
                  </a:lnTo>
                  <a:lnTo>
                    <a:pt x="697669" y="449598"/>
                  </a:lnTo>
                  <a:lnTo>
                    <a:pt x="707114" y="403373"/>
                  </a:lnTo>
                  <a:lnTo>
                    <a:pt x="710356" y="355178"/>
                  </a:lnTo>
                  <a:lnTo>
                    <a:pt x="707114" y="306982"/>
                  </a:lnTo>
                  <a:lnTo>
                    <a:pt x="697669" y="260757"/>
                  </a:lnTo>
                  <a:lnTo>
                    <a:pt x="682444" y="216926"/>
                  </a:lnTo>
                  <a:lnTo>
                    <a:pt x="661864" y="175912"/>
                  </a:lnTo>
                  <a:lnTo>
                    <a:pt x="636350" y="138139"/>
                  </a:lnTo>
                  <a:lnTo>
                    <a:pt x="606327" y="104029"/>
                  </a:lnTo>
                  <a:lnTo>
                    <a:pt x="572217" y="74005"/>
                  </a:lnTo>
                  <a:lnTo>
                    <a:pt x="534443" y="48492"/>
                  </a:lnTo>
                  <a:lnTo>
                    <a:pt x="493429" y="27911"/>
                  </a:lnTo>
                  <a:lnTo>
                    <a:pt x="449598" y="12687"/>
                  </a:lnTo>
                  <a:lnTo>
                    <a:pt x="403373" y="3242"/>
                  </a:lnTo>
                  <a:lnTo>
                    <a:pt x="35517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6529595" y="6298241"/>
            <a:ext cx="739140" cy="739140"/>
            <a:chOff x="16529595" y="6298241"/>
            <a:chExt cx="739140" cy="739140"/>
          </a:xfrm>
        </p:grpSpPr>
        <p:sp>
          <p:nvSpPr>
            <p:cNvPr id="24" name="object 24"/>
            <p:cNvSpPr/>
            <p:nvPr/>
          </p:nvSpPr>
          <p:spPr>
            <a:xfrm>
              <a:off x="16539120" y="6307766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089" y="720177"/>
                  </a:moveTo>
                  <a:lnTo>
                    <a:pt x="311227" y="716890"/>
                  </a:lnTo>
                  <a:lnTo>
                    <a:pt x="264363" y="707315"/>
                  </a:lnTo>
                  <a:lnTo>
                    <a:pt x="219926" y="691880"/>
                  </a:lnTo>
                  <a:lnTo>
                    <a:pt x="178345" y="671015"/>
                  </a:lnTo>
                  <a:lnTo>
                    <a:pt x="140049" y="645148"/>
                  </a:lnTo>
                  <a:lnTo>
                    <a:pt x="105468" y="614710"/>
                  </a:lnTo>
                  <a:lnTo>
                    <a:pt x="75029" y="580128"/>
                  </a:lnTo>
                  <a:lnTo>
                    <a:pt x="49162" y="541832"/>
                  </a:lnTo>
                  <a:lnTo>
                    <a:pt x="28297" y="500251"/>
                  </a:lnTo>
                  <a:lnTo>
                    <a:pt x="12862" y="455814"/>
                  </a:lnTo>
                  <a:lnTo>
                    <a:pt x="3287" y="408950"/>
                  </a:lnTo>
                  <a:lnTo>
                    <a:pt x="0" y="360088"/>
                  </a:lnTo>
                  <a:lnTo>
                    <a:pt x="3287" y="311226"/>
                  </a:lnTo>
                  <a:lnTo>
                    <a:pt x="12862" y="264362"/>
                  </a:lnTo>
                  <a:lnTo>
                    <a:pt x="28297" y="219926"/>
                  </a:lnTo>
                  <a:lnTo>
                    <a:pt x="49162" y="178345"/>
                  </a:lnTo>
                  <a:lnTo>
                    <a:pt x="75029" y="140049"/>
                  </a:lnTo>
                  <a:lnTo>
                    <a:pt x="105468" y="105467"/>
                  </a:lnTo>
                  <a:lnTo>
                    <a:pt x="140049" y="75029"/>
                  </a:lnTo>
                  <a:lnTo>
                    <a:pt x="178345" y="49162"/>
                  </a:lnTo>
                  <a:lnTo>
                    <a:pt x="219926" y="28297"/>
                  </a:lnTo>
                  <a:lnTo>
                    <a:pt x="264363" y="12862"/>
                  </a:lnTo>
                  <a:lnTo>
                    <a:pt x="311227" y="3287"/>
                  </a:lnTo>
                  <a:lnTo>
                    <a:pt x="360089" y="0"/>
                  </a:lnTo>
                  <a:lnTo>
                    <a:pt x="408951" y="3287"/>
                  </a:lnTo>
                  <a:lnTo>
                    <a:pt x="455815" y="12862"/>
                  </a:lnTo>
                  <a:lnTo>
                    <a:pt x="500252" y="28297"/>
                  </a:lnTo>
                  <a:lnTo>
                    <a:pt x="541833" y="49162"/>
                  </a:lnTo>
                  <a:lnTo>
                    <a:pt x="580128" y="75029"/>
                  </a:lnTo>
                  <a:lnTo>
                    <a:pt x="614710" y="105467"/>
                  </a:lnTo>
                  <a:lnTo>
                    <a:pt x="645148" y="140049"/>
                  </a:lnTo>
                  <a:lnTo>
                    <a:pt x="671015" y="178345"/>
                  </a:lnTo>
                  <a:lnTo>
                    <a:pt x="691880" y="219926"/>
                  </a:lnTo>
                  <a:lnTo>
                    <a:pt x="707315" y="264362"/>
                  </a:lnTo>
                  <a:lnTo>
                    <a:pt x="716890" y="311226"/>
                  </a:lnTo>
                  <a:lnTo>
                    <a:pt x="720177" y="360088"/>
                  </a:lnTo>
                  <a:lnTo>
                    <a:pt x="716890" y="408950"/>
                  </a:lnTo>
                  <a:lnTo>
                    <a:pt x="707315" y="455814"/>
                  </a:lnTo>
                  <a:lnTo>
                    <a:pt x="691880" y="500251"/>
                  </a:lnTo>
                  <a:lnTo>
                    <a:pt x="671015" y="541832"/>
                  </a:lnTo>
                  <a:lnTo>
                    <a:pt x="645148" y="580128"/>
                  </a:lnTo>
                  <a:lnTo>
                    <a:pt x="614710" y="614710"/>
                  </a:lnTo>
                  <a:lnTo>
                    <a:pt x="580128" y="645148"/>
                  </a:lnTo>
                  <a:lnTo>
                    <a:pt x="541833" y="671015"/>
                  </a:lnTo>
                  <a:lnTo>
                    <a:pt x="500252" y="691880"/>
                  </a:lnTo>
                  <a:lnTo>
                    <a:pt x="455815" y="707315"/>
                  </a:lnTo>
                  <a:lnTo>
                    <a:pt x="408951" y="716890"/>
                  </a:lnTo>
                  <a:lnTo>
                    <a:pt x="360089" y="720177"/>
                  </a:lnTo>
                  <a:close/>
                </a:path>
              </a:pathLst>
            </a:custGeom>
            <a:solidFill>
              <a:srgbClr val="3478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539120" y="6307766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90">
                  <a:moveTo>
                    <a:pt x="360015" y="0"/>
                  </a:moveTo>
                  <a:lnTo>
                    <a:pt x="311163" y="3286"/>
                  </a:lnTo>
                  <a:lnTo>
                    <a:pt x="264308" y="12860"/>
                  </a:lnTo>
                  <a:lnTo>
                    <a:pt x="219881" y="28291"/>
                  </a:lnTo>
                  <a:lnTo>
                    <a:pt x="178308" y="49152"/>
                  </a:lnTo>
                  <a:lnTo>
                    <a:pt x="140020" y="75013"/>
                  </a:lnTo>
                  <a:lnTo>
                    <a:pt x="105446" y="105446"/>
                  </a:lnTo>
                  <a:lnTo>
                    <a:pt x="75013" y="140020"/>
                  </a:lnTo>
                  <a:lnTo>
                    <a:pt x="49152" y="178308"/>
                  </a:lnTo>
                  <a:lnTo>
                    <a:pt x="28291" y="219881"/>
                  </a:lnTo>
                  <a:lnTo>
                    <a:pt x="12860" y="264308"/>
                  </a:lnTo>
                  <a:lnTo>
                    <a:pt x="3286" y="311163"/>
                  </a:lnTo>
                  <a:lnTo>
                    <a:pt x="0" y="360015"/>
                  </a:lnTo>
                  <a:lnTo>
                    <a:pt x="3286" y="408867"/>
                  </a:lnTo>
                  <a:lnTo>
                    <a:pt x="12860" y="455721"/>
                  </a:lnTo>
                  <a:lnTo>
                    <a:pt x="28291" y="500149"/>
                  </a:lnTo>
                  <a:lnTo>
                    <a:pt x="49152" y="541721"/>
                  </a:lnTo>
                  <a:lnTo>
                    <a:pt x="75013" y="580009"/>
                  </a:lnTo>
                  <a:lnTo>
                    <a:pt x="105446" y="614584"/>
                  </a:lnTo>
                  <a:lnTo>
                    <a:pt x="140020" y="645016"/>
                  </a:lnTo>
                  <a:lnTo>
                    <a:pt x="178308" y="670877"/>
                  </a:lnTo>
                  <a:lnTo>
                    <a:pt x="219881" y="691738"/>
                  </a:lnTo>
                  <a:lnTo>
                    <a:pt x="264308" y="707170"/>
                  </a:lnTo>
                  <a:lnTo>
                    <a:pt x="311163" y="716743"/>
                  </a:lnTo>
                  <a:lnTo>
                    <a:pt x="360015" y="720030"/>
                  </a:lnTo>
                  <a:lnTo>
                    <a:pt x="408867" y="716743"/>
                  </a:lnTo>
                  <a:lnTo>
                    <a:pt x="455721" y="707170"/>
                  </a:lnTo>
                  <a:lnTo>
                    <a:pt x="500149" y="691738"/>
                  </a:lnTo>
                  <a:lnTo>
                    <a:pt x="541721" y="670877"/>
                  </a:lnTo>
                  <a:lnTo>
                    <a:pt x="580009" y="645016"/>
                  </a:lnTo>
                  <a:lnTo>
                    <a:pt x="614584" y="614584"/>
                  </a:lnTo>
                  <a:lnTo>
                    <a:pt x="645016" y="580009"/>
                  </a:lnTo>
                  <a:lnTo>
                    <a:pt x="670877" y="541721"/>
                  </a:lnTo>
                  <a:lnTo>
                    <a:pt x="691738" y="500149"/>
                  </a:lnTo>
                  <a:lnTo>
                    <a:pt x="707170" y="455721"/>
                  </a:lnTo>
                  <a:lnTo>
                    <a:pt x="716743" y="408867"/>
                  </a:lnTo>
                  <a:lnTo>
                    <a:pt x="720030" y="360015"/>
                  </a:lnTo>
                  <a:lnTo>
                    <a:pt x="716743" y="311163"/>
                  </a:lnTo>
                  <a:lnTo>
                    <a:pt x="707170" y="264308"/>
                  </a:lnTo>
                  <a:lnTo>
                    <a:pt x="691738" y="219881"/>
                  </a:lnTo>
                  <a:lnTo>
                    <a:pt x="670877" y="178308"/>
                  </a:lnTo>
                  <a:lnTo>
                    <a:pt x="645016" y="140020"/>
                  </a:lnTo>
                  <a:lnTo>
                    <a:pt x="614584" y="105446"/>
                  </a:lnTo>
                  <a:lnTo>
                    <a:pt x="580009" y="75013"/>
                  </a:lnTo>
                  <a:lnTo>
                    <a:pt x="541721" y="49152"/>
                  </a:lnTo>
                  <a:lnTo>
                    <a:pt x="500149" y="28291"/>
                  </a:lnTo>
                  <a:lnTo>
                    <a:pt x="455721" y="12860"/>
                  </a:lnTo>
                  <a:lnTo>
                    <a:pt x="408867" y="3286"/>
                  </a:lnTo>
                  <a:lnTo>
                    <a:pt x="36001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1854" y="6410498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79">
                  <a:moveTo>
                    <a:pt x="262756" y="525512"/>
                  </a:moveTo>
                  <a:lnTo>
                    <a:pt x="259954" y="451696"/>
                  </a:lnTo>
                  <a:lnTo>
                    <a:pt x="255292" y="393625"/>
                  </a:lnTo>
                  <a:lnTo>
                    <a:pt x="246808" y="349333"/>
                  </a:lnTo>
                  <a:lnTo>
                    <a:pt x="232539" y="316854"/>
                  </a:lnTo>
                  <a:lnTo>
                    <a:pt x="213364" y="327311"/>
                  </a:lnTo>
                  <a:lnTo>
                    <a:pt x="191893" y="342455"/>
                  </a:lnTo>
                  <a:lnTo>
                    <a:pt x="167282" y="362291"/>
                  </a:lnTo>
                  <a:lnTo>
                    <a:pt x="138689" y="386822"/>
                  </a:lnTo>
                  <a:lnTo>
                    <a:pt x="163220" y="358229"/>
                  </a:lnTo>
                  <a:lnTo>
                    <a:pt x="183056" y="333618"/>
                  </a:lnTo>
                  <a:lnTo>
                    <a:pt x="198201" y="312147"/>
                  </a:lnTo>
                  <a:lnTo>
                    <a:pt x="208657" y="292972"/>
                  </a:lnTo>
                  <a:lnTo>
                    <a:pt x="176178" y="278703"/>
                  </a:lnTo>
                  <a:lnTo>
                    <a:pt x="131886" y="270219"/>
                  </a:lnTo>
                  <a:lnTo>
                    <a:pt x="73815" y="265557"/>
                  </a:lnTo>
                  <a:lnTo>
                    <a:pt x="0" y="262756"/>
                  </a:lnTo>
                  <a:lnTo>
                    <a:pt x="73815" y="259954"/>
                  </a:lnTo>
                  <a:lnTo>
                    <a:pt x="131886" y="255292"/>
                  </a:lnTo>
                  <a:lnTo>
                    <a:pt x="176178" y="246808"/>
                  </a:lnTo>
                  <a:lnTo>
                    <a:pt x="208657" y="232539"/>
                  </a:lnTo>
                  <a:lnTo>
                    <a:pt x="198201" y="213364"/>
                  </a:lnTo>
                  <a:lnTo>
                    <a:pt x="183056" y="191893"/>
                  </a:lnTo>
                  <a:lnTo>
                    <a:pt x="163220" y="167282"/>
                  </a:lnTo>
                  <a:lnTo>
                    <a:pt x="138689" y="138689"/>
                  </a:lnTo>
                  <a:lnTo>
                    <a:pt x="167282" y="163220"/>
                  </a:lnTo>
                  <a:lnTo>
                    <a:pt x="191893" y="183056"/>
                  </a:lnTo>
                  <a:lnTo>
                    <a:pt x="213364" y="198201"/>
                  </a:lnTo>
                  <a:lnTo>
                    <a:pt x="232539" y="208657"/>
                  </a:lnTo>
                  <a:lnTo>
                    <a:pt x="246808" y="176178"/>
                  </a:lnTo>
                  <a:lnTo>
                    <a:pt x="255292" y="131886"/>
                  </a:lnTo>
                  <a:lnTo>
                    <a:pt x="259954" y="73815"/>
                  </a:lnTo>
                  <a:lnTo>
                    <a:pt x="262756" y="0"/>
                  </a:lnTo>
                  <a:lnTo>
                    <a:pt x="265557" y="73815"/>
                  </a:lnTo>
                  <a:lnTo>
                    <a:pt x="270219" y="131886"/>
                  </a:lnTo>
                  <a:lnTo>
                    <a:pt x="278703" y="176178"/>
                  </a:lnTo>
                  <a:lnTo>
                    <a:pt x="292972" y="208657"/>
                  </a:lnTo>
                  <a:lnTo>
                    <a:pt x="312147" y="198201"/>
                  </a:lnTo>
                  <a:lnTo>
                    <a:pt x="333618" y="183056"/>
                  </a:lnTo>
                  <a:lnTo>
                    <a:pt x="358229" y="163220"/>
                  </a:lnTo>
                  <a:lnTo>
                    <a:pt x="386822" y="138689"/>
                  </a:lnTo>
                  <a:lnTo>
                    <a:pt x="362291" y="167282"/>
                  </a:lnTo>
                  <a:lnTo>
                    <a:pt x="342455" y="191893"/>
                  </a:lnTo>
                  <a:lnTo>
                    <a:pt x="327310" y="213364"/>
                  </a:lnTo>
                  <a:lnTo>
                    <a:pt x="316854" y="232539"/>
                  </a:lnTo>
                  <a:lnTo>
                    <a:pt x="349333" y="246808"/>
                  </a:lnTo>
                  <a:lnTo>
                    <a:pt x="393625" y="255292"/>
                  </a:lnTo>
                  <a:lnTo>
                    <a:pt x="451696" y="259954"/>
                  </a:lnTo>
                  <a:lnTo>
                    <a:pt x="525512" y="262756"/>
                  </a:lnTo>
                  <a:lnTo>
                    <a:pt x="451696" y="265557"/>
                  </a:lnTo>
                  <a:lnTo>
                    <a:pt x="393625" y="270219"/>
                  </a:lnTo>
                  <a:lnTo>
                    <a:pt x="349333" y="278703"/>
                  </a:lnTo>
                  <a:lnTo>
                    <a:pt x="316854" y="292972"/>
                  </a:lnTo>
                  <a:lnTo>
                    <a:pt x="327311" y="312147"/>
                  </a:lnTo>
                  <a:lnTo>
                    <a:pt x="342455" y="333618"/>
                  </a:lnTo>
                  <a:lnTo>
                    <a:pt x="362291" y="358229"/>
                  </a:lnTo>
                  <a:lnTo>
                    <a:pt x="386822" y="386822"/>
                  </a:lnTo>
                  <a:lnTo>
                    <a:pt x="358229" y="362291"/>
                  </a:lnTo>
                  <a:lnTo>
                    <a:pt x="333618" y="342455"/>
                  </a:lnTo>
                  <a:lnTo>
                    <a:pt x="312147" y="327310"/>
                  </a:lnTo>
                  <a:lnTo>
                    <a:pt x="292972" y="316854"/>
                  </a:lnTo>
                  <a:lnTo>
                    <a:pt x="278703" y="349333"/>
                  </a:lnTo>
                  <a:lnTo>
                    <a:pt x="270219" y="393625"/>
                  </a:lnTo>
                  <a:lnTo>
                    <a:pt x="265557" y="451696"/>
                  </a:lnTo>
                  <a:lnTo>
                    <a:pt x="262756" y="525512"/>
                  </a:lnTo>
                  <a:close/>
                </a:path>
              </a:pathLst>
            </a:custGeom>
            <a:solidFill>
              <a:srgbClr val="040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1129994" y="7611097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261379" y="235582"/>
                </a:moveTo>
                <a:lnTo>
                  <a:pt x="246273" y="235582"/>
                </a:lnTo>
                <a:lnTo>
                  <a:pt x="246327" y="226940"/>
                </a:lnTo>
                <a:lnTo>
                  <a:pt x="246443" y="208414"/>
                </a:lnTo>
                <a:lnTo>
                  <a:pt x="246570" y="197495"/>
                </a:lnTo>
                <a:lnTo>
                  <a:pt x="246680" y="187963"/>
                </a:lnTo>
                <a:lnTo>
                  <a:pt x="246803" y="178614"/>
                </a:lnTo>
                <a:lnTo>
                  <a:pt x="247127" y="159850"/>
                </a:lnTo>
                <a:lnTo>
                  <a:pt x="247227" y="154080"/>
                </a:lnTo>
                <a:lnTo>
                  <a:pt x="247859" y="126913"/>
                </a:lnTo>
                <a:lnTo>
                  <a:pt x="248748" y="98262"/>
                </a:lnTo>
                <a:lnTo>
                  <a:pt x="248844" y="95184"/>
                </a:lnTo>
                <a:lnTo>
                  <a:pt x="250101" y="63456"/>
                </a:lnTo>
                <a:lnTo>
                  <a:pt x="251728" y="31728"/>
                </a:lnTo>
                <a:lnTo>
                  <a:pt x="253826" y="0"/>
                </a:lnTo>
                <a:lnTo>
                  <a:pt x="255923" y="31728"/>
                </a:lnTo>
                <a:lnTo>
                  <a:pt x="258808" y="95184"/>
                </a:lnTo>
                <a:lnTo>
                  <a:pt x="260425" y="154080"/>
                </a:lnTo>
                <a:lnTo>
                  <a:pt x="261082" y="197495"/>
                </a:lnTo>
                <a:lnTo>
                  <a:pt x="261324" y="226940"/>
                </a:lnTo>
                <a:lnTo>
                  <a:pt x="261379" y="235582"/>
                </a:lnTo>
                <a:close/>
              </a:path>
              <a:path w="504825" h="504825">
                <a:moveTo>
                  <a:pt x="74344" y="433307"/>
                </a:moveTo>
                <a:lnTo>
                  <a:pt x="116567" y="385789"/>
                </a:lnTo>
                <a:lnTo>
                  <a:pt x="159851" y="339333"/>
                </a:lnTo>
                <a:lnTo>
                  <a:pt x="197493" y="300137"/>
                </a:lnTo>
                <a:lnTo>
                  <a:pt x="235582" y="261379"/>
                </a:lnTo>
                <a:lnTo>
                  <a:pt x="206113" y="261208"/>
                </a:lnTo>
                <a:lnTo>
                  <a:pt x="207208" y="261208"/>
                </a:lnTo>
                <a:lnTo>
                  <a:pt x="179690" y="260894"/>
                </a:lnTo>
                <a:lnTo>
                  <a:pt x="180210" y="260894"/>
                </a:lnTo>
                <a:lnTo>
                  <a:pt x="152943" y="260425"/>
                </a:lnTo>
                <a:lnTo>
                  <a:pt x="153239" y="260425"/>
                </a:lnTo>
                <a:lnTo>
                  <a:pt x="126039" y="259793"/>
                </a:lnTo>
                <a:lnTo>
                  <a:pt x="126258" y="259793"/>
                </a:lnTo>
                <a:lnTo>
                  <a:pt x="94489" y="258807"/>
                </a:lnTo>
                <a:lnTo>
                  <a:pt x="94641" y="258807"/>
                </a:lnTo>
                <a:lnTo>
                  <a:pt x="63089" y="257551"/>
                </a:lnTo>
                <a:lnTo>
                  <a:pt x="31549" y="255923"/>
                </a:lnTo>
                <a:lnTo>
                  <a:pt x="0" y="253826"/>
                </a:lnTo>
                <a:lnTo>
                  <a:pt x="31728" y="251716"/>
                </a:lnTo>
                <a:lnTo>
                  <a:pt x="63456" y="250082"/>
                </a:lnTo>
                <a:lnTo>
                  <a:pt x="95185" y="248822"/>
                </a:lnTo>
                <a:lnTo>
                  <a:pt x="154079" y="247206"/>
                </a:lnTo>
                <a:lnTo>
                  <a:pt x="235576" y="246266"/>
                </a:lnTo>
                <a:lnTo>
                  <a:pt x="216481" y="226940"/>
                </a:lnTo>
                <a:lnTo>
                  <a:pt x="178604" y="187963"/>
                </a:lnTo>
                <a:lnTo>
                  <a:pt x="138097" y="145171"/>
                </a:lnTo>
                <a:lnTo>
                  <a:pt x="95281" y="98262"/>
                </a:lnTo>
                <a:lnTo>
                  <a:pt x="74344" y="74343"/>
                </a:lnTo>
                <a:lnTo>
                  <a:pt x="98154" y="95184"/>
                </a:lnTo>
                <a:lnTo>
                  <a:pt x="145188" y="138111"/>
                </a:lnTo>
                <a:lnTo>
                  <a:pt x="187976" y="178614"/>
                </a:lnTo>
                <a:lnTo>
                  <a:pt x="226947" y="216486"/>
                </a:lnTo>
                <a:lnTo>
                  <a:pt x="246273" y="235582"/>
                </a:lnTo>
                <a:lnTo>
                  <a:pt x="282618" y="235582"/>
                </a:lnTo>
                <a:lnTo>
                  <a:pt x="272067" y="246266"/>
                </a:lnTo>
                <a:lnTo>
                  <a:pt x="270924" y="246266"/>
                </a:lnTo>
                <a:lnTo>
                  <a:pt x="297967" y="246428"/>
                </a:lnTo>
                <a:lnTo>
                  <a:pt x="352404" y="247206"/>
                </a:lnTo>
                <a:lnTo>
                  <a:pt x="411759" y="248822"/>
                </a:lnTo>
                <a:lnTo>
                  <a:pt x="475692" y="251716"/>
                </a:lnTo>
                <a:lnTo>
                  <a:pt x="504824" y="253639"/>
                </a:lnTo>
                <a:lnTo>
                  <a:pt x="504824" y="254013"/>
                </a:lnTo>
                <a:lnTo>
                  <a:pt x="444196" y="257551"/>
                </a:lnTo>
                <a:lnTo>
                  <a:pt x="380739" y="259793"/>
                </a:lnTo>
                <a:lnTo>
                  <a:pt x="299229" y="261208"/>
                </a:lnTo>
                <a:lnTo>
                  <a:pt x="272060" y="261379"/>
                </a:lnTo>
                <a:lnTo>
                  <a:pt x="282615" y="272067"/>
                </a:lnTo>
                <a:lnTo>
                  <a:pt x="246276" y="272067"/>
                </a:lnTo>
                <a:lnTo>
                  <a:pt x="226956" y="291157"/>
                </a:lnTo>
                <a:lnTo>
                  <a:pt x="207528" y="310145"/>
                </a:lnTo>
                <a:lnTo>
                  <a:pt x="168334" y="347786"/>
                </a:lnTo>
                <a:lnTo>
                  <a:pt x="121876" y="391071"/>
                </a:lnTo>
                <a:lnTo>
                  <a:pt x="98280" y="412356"/>
                </a:lnTo>
                <a:lnTo>
                  <a:pt x="74344" y="433307"/>
                </a:lnTo>
                <a:close/>
              </a:path>
              <a:path w="504825" h="504825">
                <a:moveTo>
                  <a:pt x="282618" y="235582"/>
                </a:moveTo>
                <a:lnTo>
                  <a:pt x="261389" y="235582"/>
                </a:lnTo>
                <a:lnTo>
                  <a:pt x="280726" y="216486"/>
                </a:lnTo>
                <a:lnTo>
                  <a:pt x="319706" y="178614"/>
                </a:lnTo>
                <a:lnTo>
                  <a:pt x="362498" y="138111"/>
                </a:lnTo>
                <a:lnTo>
                  <a:pt x="409517" y="95184"/>
                </a:lnTo>
                <a:lnTo>
                  <a:pt x="433308" y="74343"/>
                </a:lnTo>
                <a:lnTo>
                  <a:pt x="412356" y="98262"/>
                </a:lnTo>
                <a:lnTo>
                  <a:pt x="369525" y="145171"/>
                </a:lnTo>
                <a:lnTo>
                  <a:pt x="329021" y="187963"/>
                </a:lnTo>
                <a:lnTo>
                  <a:pt x="291151" y="226940"/>
                </a:lnTo>
                <a:lnTo>
                  <a:pt x="282618" y="235582"/>
                </a:lnTo>
                <a:close/>
              </a:path>
              <a:path w="504825" h="504825">
                <a:moveTo>
                  <a:pt x="254014" y="504824"/>
                </a:moveTo>
                <a:lnTo>
                  <a:pt x="253638" y="504824"/>
                </a:lnTo>
                <a:lnTo>
                  <a:pt x="251716" y="475924"/>
                </a:lnTo>
                <a:lnTo>
                  <a:pt x="248819" y="412356"/>
                </a:lnTo>
                <a:lnTo>
                  <a:pt x="247207" y="353571"/>
                </a:lnTo>
                <a:lnTo>
                  <a:pt x="246554" y="310145"/>
                </a:lnTo>
                <a:lnTo>
                  <a:pt x="246440" y="300137"/>
                </a:lnTo>
                <a:lnTo>
                  <a:pt x="246381" y="291157"/>
                </a:lnTo>
                <a:lnTo>
                  <a:pt x="246267" y="272067"/>
                </a:lnTo>
                <a:lnTo>
                  <a:pt x="261385" y="272067"/>
                </a:lnTo>
                <a:lnTo>
                  <a:pt x="261271" y="291157"/>
                </a:lnTo>
                <a:lnTo>
                  <a:pt x="261212" y="300137"/>
                </a:lnTo>
                <a:lnTo>
                  <a:pt x="261097" y="310145"/>
                </a:lnTo>
                <a:lnTo>
                  <a:pt x="260988" y="319677"/>
                </a:lnTo>
                <a:lnTo>
                  <a:pt x="259813" y="380739"/>
                </a:lnTo>
                <a:lnTo>
                  <a:pt x="258925" y="409380"/>
                </a:lnTo>
                <a:lnTo>
                  <a:pt x="258833" y="412356"/>
                </a:lnTo>
                <a:lnTo>
                  <a:pt x="257570" y="444195"/>
                </a:lnTo>
                <a:lnTo>
                  <a:pt x="255935" y="475924"/>
                </a:lnTo>
                <a:lnTo>
                  <a:pt x="254014" y="504824"/>
                </a:lnTo>
                <a:close/>
              </a:path>
              <a:path w="504825" h="504825">
                <a:moveTo>
                  <a:pt x="433307" y="433307"/>
                </a:moveTo>
                <a:lnTo>
                  <a:pt x="385803" y="391071"/>
                </a:lnTo>
                <a:lnTo>
                  <a:pt x="339347" y="347786"/>
                </a:lnTo>
                <a:lnTo>
                  <a:pt x="300148" y="310145"/>
                </a:lnTo>
                <a:lnTo>
                  <a:pt x="261385" y="272067"/>
                </a:lnTo>
                <a:lnTo>
                  <a:pt x="282615" y="272067"/>
                </a:lnTo>
                <a:lnTo>
                  <a:pt x="310133" y="300137"/>
                </a:lnTo>
                <a:lnTo>
                  <a:pt x="347771" y="339333"/>
                </a:lnTo>
                <a:lnTo>
                  <a:pt x="391057" y="385789"/>
                </a:lnTo>
                <a:lnTo>
                  <a:pt x="433307" y="433307"/>
                </a:lnTo>
                <a:close/>
              </a:path>
            </a:pathLst>
          </a:custGeom>
          <a:solidFill>
            <a:srgbClr val="0405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011930" y="2587605"/>
            <a:ext cx="5580380" cy="27973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2893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040505"/>
                </a:solidFill>
                <a:latin typeface="Courier New"/>
                <a:cs typeface="Courier New"/>
              </a:rPr>
              <a:t>Objective</a:t>
            </a:r>
            <a:endParaRPr sz="3200" dirty="0">
              <a:latin typeface="Courier New"/>
              <a:cs typeface="Courier New"/>
            </a:endParaRPr>
          </a:p>
          <a:p>
            <a:pPr marL="355600" marR="497840" indent="-342900">
              <a:lnSpc>
                <a:spcPct val="114999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sz="2400" spc="60" dirty="0">
                <a:solidFill>
                  <a:srgbClr val="040505"/>
                </a:solidFill>
                <a:latin typeface="Arial MT"/>
                <a:cs typeface="Arial MT"/>
              </a:rPr>
              <a:t>To</a:t>
            </a:r>
            <a:r>
              <a:rPr sz="2400" spc="250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lang="en-US" sz="2400" spc="90" dirty="0">
                <a:solidFill>
                  <a:srgbClr val="040505"/>
                </a:solidFill>
                <a:latin typeface="Arial MT"/>
                <a:cs typeface="Arial MT"/>
              </a:rPr>
              <a:t>understand when customer churn and which customer are worth to retaining</a:t>
            </a:r>
            <a:r>
              <a:rPr sz="2400" spc="70" dirty="0">
                <a:solidFill>
                  <a:srgbClr val="040505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sz="2400" spc="95" dirty="0">
                <a:solidFill>
                  <a:srgbClr val="040505"/>
                </a:solidFill>
                <a:latin typeface="Arial MT"/>
                <a:cs typeface="Arial MT"/>
              </a:rPr>
              <a:t>Giving</a:t>
            </a:r>
            <a:r>
              <a:rPr sz="2400" spc="265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40505"/>
                </a:solidFill>
                <a:latin typeface="Arial MT"/>
                <a:cs typeface="Arial MT"/>
              </a:rPr>
              <a:t>business</a:t>
            </a:r>
            <a:r>
              <a:rPr sz="2400" spc="270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40505"/>
                </a:solidFill>
                <a:latin typeface="Arial MT"/>
                <a:cs typeface="Arial MT"/>
              </a:rPr>
              <a:t>recommendation</a:t>
            </a:r>
            <a:r>
              <a:rPr sz="2400" spc="270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sz="2400" spc="30" dirty="0">
                <a:solidFill>
                  <a:srgbClr val="040505"/>
                </a:solidFill>
                <a:latin typeface="Arial MT"/>
                <a:cs typeface="Arial MT"/>
              </a:rPr>
              <a:t>to </a:t>
            </a:r>
            <a:r>
              <a:rPr sz="2400" spc="95" dirty="0">
                <a:solidFill>
                  <a:srgbClr val="040505"/>
                </a:solidFill>
                <a:latin typeface="Arial MT"/>
                <a:cs typeface="Arial MT"/>
              </a:rPr>
              <a:t>create</a:t>
            </a:r>
            <a:r>
              <a:rPr sz="2400" spc="270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040505"/>
                </a:solidFill>
                <a:latin typeface="Arial MT"/>
                <a:cs typeface="Arial MT"/>
              </a:rPr>
              <a:t>targeted</a:t>
            </a:r>
            <a:r>
              <a:rPr sz="2400" spc="275" dirty="0">
                <a:solidFill>
                  <a:srgbClr val="040505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040505"/>
                </a:solidFill>
                <a:latin typeface="Arial MT"/>
                <a:cs typeface="Arial MT"/>
              </a:rPr>
              <a:t>strategies.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489200" y="2604062"/>
            <a:ext cx="4165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solidFill>
                  <a:srgbClr val="040505"/>
                </a:solidFill>
                <a:latin typeface="Courier New"/>
                <a:cs typeface="Courier New"/>
              </a:rPr>
              <a:t>Problem</a:t>
            </a:r>
            <a:r>
              <a:rPr sz="3200" b="1" spc="-170" dirty="0">
                <a:solidFill>
                  <a:srgbClr val="040505"/>
                </a:solidFill>
                <a:latin typeface="Courier New"/>
                <a:cs typeface="Courier New"/>
              </a:rPr>
              <a:t> </a:t>
            </a:r>
            <a:r>
              <a:rPr sz="3200" b="1" spc="-10" dirty="0">
                <a:solidFill>
                  <a:srgbClr val="040505"/>
                </a:solidFill>
                <a:latin typeface="Courier New"/>
                <a:cs typeface="Courier New"/>
              </a:rPr>
              <a:t>Statement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08405" y="3496501"/>
            <a:ext cx="68326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500" spc="55" dirty="0">
                <a:solidFill>
                  <a:srgbClr val="040505"/>
                </a:solidFill>
                <a:latin typeface="Arial MT"/>
              </a:rPr>
              <a:t>Analyzing important factors </a:t>
            </a:r>
            <a:r>
              <a:rPr lang="en-US" sz="2500" spc="55" dirty="0">
                <a:solidFill>
                  <a:srgbClr val="040505"/>
                </a:solidFill>
                <a:latin typeface="Arial MT"/>
              </a:rPr>
              <a:t>of customer retention performing, and which customer segments contribute most revenue during the 2023-2024</a:t>
            </a:r>
            <a:r>
              <a:rPr sz="2500" spc="55" dirty="0">
                <a:solidFill>
                  <a:srgbClr val="040505"/>
                </a:solidFill>
                <a:latin typeface="Arial MT"/>
              </a:rPr>
              <a:t>.</a:t>
            </a:r>
          </a:p>
        </p:txBody>
      </p:sp>
      <p:grpSp>
        <p:nvGrpSpPr>
          <p:cNvPr id="33" name="object 33"/>
          <p:cNvGrpSpPr/>
          <p:nvPr/>
        </p:nvGrpSpPr>
        <p:grpSpPr>
          <a:xfrm>
            <a:off x="0" y="0"/>
            <a:ext cx="18297525" cy="1047115"/>
            <a:chOff x="0" y="0"/>
            <a:chExt cx="18297525" cy="1047115"/>
          </a:xfrm>
        </p:grpSpPr>
        <p:sp>
          <p:nvSpPr>
            <p:cNvPr id="34" name="object 34"/>
            <p:cNvSpPr/>
            <p:nvPr/>
          </p:nvSpPr>
          <p:spPr>
            <a:xfrm>
              <a:off x="0" y="583831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3"/>
                  </a:moveTo>
                  <a:lnTo>
                    <a:pt x="9143443" y="453313"/>
                  </a:lnTo>
                  <a:lnTo>
                    <a:pt x="9143443" y="0"/>
                  </a:lnTo>
                  <a:lnTo>
                    <a:pt x="0" y="0"/>
                  </a:lnTo>
                  <a:lnTo>
                    <a:pt x="0" y="453313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583830"/>
              <a:ext cx="9249410" cy="453390"/>
            </a:xfrm>
            <a:custGeom>
              <a:avLst/>
              <a:gdLst/>
              <a:ahLst/>
              <a:cxnLst/>
              <a:rect l="l" t="t" r="r" b="b"/>
              <a:pathLst>
                <a:path w="9249410" h="453390">
                  <a:moveTo>
                    <a:pt x="0" y="0"/>
                  </a:moveTo>
                  <a:lnTo>
                    <a:pt x="9248857" y="0"/>
                  </a:lnTo>
                </a:path>
                <a:path w="9249410" h="453390">
                  <a:moveTo>
                    <a:pt x="9248857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43443" y="583831"/>
              <a:ext cx="9144635" cy="453390"/>
            </a:xfrm>
            <a:custGeom>
              <a:avLst/>
              <a:gdLst/>
              <a:ahLst/>
              <a:cxnLst/>
              <a:rect l="l" t="t" r="r" b="b"/>
              <a:pathLst>
                <a:path w="9144635" h="453390">
                  <a:moveTo>
                    <a:pt x="9144555" y="453313"/>
                  </a:moveTo>
                  <a:lnTo>
                    <a:pt x="0" y="453313"/>
                  </a:lnTo>
                  <a:lnTo>
                    <a:pt x="0" y="0"/>
                  </a:lnTo>
                  <a:lnTo>
                    <a:pt x="9144555" y="0"/>
                  </a:lnTo>
                  <a:lnTo>
                    <a:pt x="9144555" y="453313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44852" y="583830"/>
              <a:ext cx="9143365" cy="453390"/>
            </a:xfrm>
            <a:custGeom>
              <a:avLst/>
              <a:gdLst/>
              <a:ahLst/>
              <a:cxnLst/>
              <a:rect l="l" t="t" r="r" b="b"/>
              <a:pathLst>
                <a:path w="9143365" h="453390">
                  <a:moveTo>
                    <a:pt x="9143146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314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75366" y="0"/>
              <a:ext cx="9449435" cy="581660"/>
            </a:xfrm>
            <a:custGeom>
              <a:avLst/>
              <a:gdLst/>
              <a:ahLst/>
              <a:cxnLst/>
              <a:rect l="l" t="t" r="r" b="b"/>
              <a:pathLst>
                <a:path w="9449435" h="581660">
                  <a:moveTo>
                    <a:pt x="9525" y="0"/>
                  </a:moveTo>
                  <a:lnTo>
                    <a:pt x="0" y="0"/>
                  </a:lnTo>
                  <a:lnTo>
                    <a:pt x="0" y="581139"/>
                  </a:lnTo>
                  <a:lnTo>
                    <a:pt x="9525" y="581139"/>
                  </a:lnTo>
                  <a:lnTo>
                    <a:pt x="9525" y="0"/>
                  </a:lnTo>
                  <a:close/>
                </a:path>
                <a:path w="9449435" h="581660">
                  <a:moveTo>
                    <a:pt x="9448838" y="12"/>
                  </a:moveTo>
                  <a:lnTo>
                    <a:pt x="9439313" y="12"/>
                  </a:lnTo>
                  <a:lnTo>
                    <a:pt x="9431312" y="581088"/>
                  </a:lnTo>
                  <a:lnTo>
                    <a:pt x="9440837" y="581215"/>
                  </a:lnTo>
                  <a:lnTo>
                    <a:pt x="9448838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0562" y="4972049"/>
            <a:ext cx="14531975" cy="342900"/>
            <a:chOff x="1720562" y="4972049"/>
            <a:chExt cx="14531975" cy="342900"/>
          </a:xfrm>
        </p:grpSpPr>
        <p:sp>
          <p:nvSpPr>
            <p:cNvPr id="3" name="object 3"/>
            <p:cNvSpPr/>
            <p:nvPr/>
          </p:nvSpPr>
          <p:spPr>
            <a:xfrm>
              <a:off x="2053937" y="5134089"/>
              <a:ext cx="13865225" cy="9525"/>
            </a:xfrm>
            <a:custGeom>
              <a:avLst/>
              <a:gdLst/>
              <a:ahLst/>
              <a:cxnLst/>
              <a:rect l="l" t="t" r="r" b="b"/>
              <a:pathLst>
                <a:path w="13865225" h="9525">
                  <a:moveTo>
                    <a:pt x="0" y="9295"/>
                  </a:moveTo>
                  <a:lnTo>
                    <a:pt x="1386493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20558" y="4972049"/>
              <a:ext cx="14531975" cy="343535"/>
            </a:xfrm>
            <a:custGeom>
              <a:avLst/>
              <a:gdLst/>
              <a:ahLst/>
              <a:cxnLst/>
              <a:rect l="l" t="t" r="r" b="b"/>
              <a:pathLst>
                <a:path w="14531975" h="343535">
                  <a:moveTo>
                    <a:pt x="323850" y="171450"/>
                  </a:moveTo>
                  <a:lnTo>
                    <a:pt x="318058" y="128409"/>
                  </a:lnTo>
                  <a:lnTo>
                    <a:pt x="301739" y="89725"/>
                  </a:lnTo>
                  <a:lnTo>
                    <a:pt x="276415" y="56959"/>
                  </a:lnTo>
                  <a:lnTo>
                    <a:pt x="243649" y="31635"/>
                  </a:lnTo>
                  <a:lnTo>
                    <a:pt x="204965" y="15316"/>
                  </a:lnTo>
                  <a:lnTo>
                    <a:pt x="161925" y="9525"/>
                  </a:lnTo>
                  <a:lnTo>
                    <a:pt x="118872" y="15316"/>
                  </a:lnTo>
                  <a:lnTo>
                    <a:pt x="80200" y="31635"/>
                  </a:lnTo>
                  <a:lnTo>
                    <a:pt x="47421" y="56959"/>
                  </a:lnTo>
                  <a:lnTo>
                    <a:pt x="22110" y="89725"/>
                  </a:lnTo>
                  <a:lnTo>
                    <a:pt x="5778" y="128409"/>
                  </a:lnTo>
                  <a:lnTo>
                    <a:pt x="0" y="171450"/>
                  </a:lnTo>
                  <a:lnTo>
                    <a:pt x="5778" y="214503"/>
                  </a:lnTo>
                  <a:lnTo>
                    <a:pt x="22110" y="253187"/>
                  </a:lnTo>
                  <a:lnTo>
                    <a:pt x="47421" y="285953"/>
                  </a:lnTo>
                  <a:lnTo>
                    <a:pt x="80200" y="311277"/>
                  </a:lnTo>
                  <a:lnTo>
                    <a:pt x="118872" y="327596"/>
                  </a:lnTo>
                  <a:lnTo>
                    <a:pt x="161925" y="333387"/>
                  </a:lnTo>
                  <a:lnTo>
                    <a:pt x="204965" y="327596"/>
                  </a:lnTo>
                  <a:lnTo>
                    <a:pt x="243649" y="311277"/>
                  </a:lnTo>
                  <a:lnTo>
                    <a:pt x="276415" y="285953"/>
                  </a:lnTo>
                  <a:lnTo>
                    <a:pt x="301739" y="253187"/>
                  </a:lnTo>
                  <a:lnTo>
                    <a:pt x="318058" y="214503"/>
                  </a:lnTo>
                  <a:lnTo>
                    <a:pt x="323850" y="171450"/>
                  </a:lnTo>
                  <a:close/>
                </a:path>
                <a:path w="14531975" h="343535">
                  <a:moveTo>
                    <a:pt x="3970477" y="161925"/>
                  </a:moveTo>
                  <a:lnTo>
                    <a:pt x="3964698" y="118884"/>
                  </a:lnTo>
                  <a:lnTo>
                    <a:pt x="3948366" y="80200"/>
                  </a:lnTo>
                  <a:lnTo>
                    <a:pt x="3923055" y="47434"/>
                  </a:lnTo>
                  <a:lnTo>
                    <a:pt x="3890276" y="22110"/>
                  </a:lnTo>
                  <a:lnTo>
                    <a:pt x="3851592" y="5791"/>
                  </a:lnTo>
                  <a:lnTo>
                    <a:pt x="3808552" y="0"/>
                  </a:lnTo>
                  <a:lnTo>
                    <a:pt x="3765512" y="5791"/>
                  </a:lnTo>
                  <a:lnTo>
                    <a:pt x="3726827" y="22110"/>
                  </a:lnTo>
                  <a:lnTo>
                    <a:pt x="3694049" y="47434"/>
                  </a:lnTo>
                  <a:lnTo>
                    <a:pt x="3668738" y="80200"/>
                  </a:lnTo>
                  <a:lnTo>
                    <a:pt x="3652405" y="118884"/>
                  </a:lnTo>
                  <a:lnTo>
                    <a:pt x="3646627" y="161925"/>
                  </a:lnTo>
                  <a:lnTo>
                    <a:pt x="3652405" y="204978"/>
                  </a:lnTo>
                  <a:lnTo>
                    <a:pt x="3668738" y="243662"/>
                  </a:lnTo>
                  <a:lnTo>
                    <a:pt x="3694049" y="276428"/>
                  </a:lnTo>
                  <a:lnTo>
                    <a:pt x="3726827" y="301752"/>
                  </a:lnTo>
                  <a:lnTo>
                    <a:pt x="3765512" y="318071"/>
                  </a:lnTo>
                  <a:lnTo>
                    <a:pt x="3808552" y="323862"/>
                  </a:lnTo>
                  <a:lnTo>
                    <a:pt x="3851592" y="318071"/>
                  </a:lnTo>
                  <a:lnTo>
                    <a:pt x="3890276" y="301752"/>
                  </a:lnTo>
                  <a:lnTo>
                    <a:pt x="3923055" y="276428"/>
                  </a:lnTo>
                  <a:lnTo>
                    <a:pt x="3948366" y="243662"/>
                  </a:lnTo>
                  <a:lnTo>
                    <a:pt x="3964698" y="204978"/>
                  </a:lnTo>
                  <a:lnTo>
                    <a:pt x="3970477" y="161925"/>
                  </a:lnTo>
                  <a:close/>
                </a:path>
                <a:path w="14531975" h="343535">
                  <a:moveTo>
                    <a:pt x="7690129" y="180975"/>
                  </a:moveTo>
                  <a:lnTo>
                    <a:pt x="7684351" y="137934"/>
                  </a:lnTo>
                  <a:lnTo>
                    <a:pt x="7668031" y="99250"/>
                  </a:lnTo>
                  <a:lnTo>
                    <a:pt x="7642707" y="66484"/>
                  </a:lnTo>
                  <a:lnTo>
                    <a:pt x="7609941" y="41160"/>
                  </a:lnTo>
                  <a:lnTo>
                    <a:pt x="7571257" y="24841"/>
                  </a:lnTo>
                  <a:lnTo>
                    <a:pt x="7528204" y="19050"/>
                  </a:lnTo>
                  <a:lnTo>
                    <a:pt x="7485164" y="24841"/>
                  </a:lnTo>
                  <a:lnTo>
                    <a:pt x="7446480" y="41160"/>
                  </a:lnTo>
                  <a:lnTo>
                    <a:pt x="7413714" y="66484"/>
                  </a:lnTo>
                  <a:lnTo>
                    <a:pt x="7388390" y="99250"/>
                  </a:lnTo>
                  <a:lnTo>
                    <a:pt x="7372070" y="137934"/>
                  </a:lnTo>
                  <a:lnTo>
                    <a:pt x="7366279" y="180975"/>
                  </a:lnTo>
                  <a:lnTo>
                    <a:pt x="7372070" y="224028"/>
                  </a:lnTo>
                  <a:lnTo>
                    <a:pt x="7388390" y="262712"/>
                  </a:lnTo>
                  <a:lnTo>
                    <a:pt x="7413714" y="295478"/>
                  </a:lnTo>
                  <a:lnTo>
                    <a:pt x="7446480" y="320802"/>
                  </a:lnTo>
                  <a:lnTo>
                    <a:pt x="7485164" y="337121"/>
                  </a:lnTo>
                  <a:lnTo>
                    <a:pt x="7528204" y="342912"/>
                  </a:lnTo>
                  <a:lnTo>
                    <a:pt x="7571257" y="337121"/>
                  </a:lnTo>
                  <a:lnTo>
                    <a:pt x="7609941" y="320802"/>
                  </a:lnTo>
                  <a:lnTo>
                    <a:pt x="7642707" y="295478"/>
                  </a:lnTo>
                  <a:lnTo>
                    <a:pt x="7668031" y="262712"/>
                  </a:lnTo>
                  <a:lnTo>
                    <a:pt x="7684351" y="224028"/>
                  </a:lnTo>
                  <a:lnTo>
                    <a:pt x="7690129" y="180975"/>
                  </a:lnTo>
                  <a:close/>
                </a:path>
                <a:path w="14531975" h="343535">
                  <a:moveTo>
                    <a:pt x="11071517" y="161925"/>
                  </a:moveTo>
                  <a:lnTo>
                    <a:pt x="11065726" y="118884"/>
                  </a:lnTo>
                  <a:lnTo>
                    <a:pt x="11049406" y="80200"/>
                  </a:lnTo>
                  <a:lnTo>
                    <a:pt x="11024083" y="47434"/>
                  </a:lnTo>
                  <a:lnTo>
                    <a:pt x="10991317" y="22110"/>
                  </a:lnTo>
                  <a:lnTo>
                    <a:pt x="10952632" y="5791"/>
                  </a:lnTo>
                  <a:lnTo>
                    <a:pt x="10909592" y="0"/>
                  </a:lnTo>
                  <a:lnTo>
                    <a:pt x="10866539" y="5791"/>
                  </a:lnTo>
                  <a:lnTo>
                    <a:pt x="10827855" y="22110"/>
                  </a:lnTo>
                  <a:lnTo>
                    <a:pt x="10795089" y="47434"/>
                  </a:lnTo>
                  <a:lnTo>
                    <a:pt x="10769765" y="80200"/>
                  </a:lnTo>
                  <a:lnTo>
                    <a:pt x="10753446" y="118884"/>
                  </a:lnTo>
                  <a:lnTo>
                    <a:pt x="10747667" y="161925"/>
                  </a:lnTo>
                  <a:lnTo>
                    <a:pt x="10753446" y="204978"/>
                  </a:lnTo>
                  <a:lnTo>
                    <a:pt x="10769765" y="243662"/>
                  </a:lnTo>
                  <a:lnTo>
                    <a:pt x="10795089" y="276428"/>
                  </a:lnTo>
                  <a:lnTo>
                    <a:pt x="10827855" y="301752"/>
                  </a:lnTo>
                  <a:lnTo>
                    <a:pt x="10866539" y="318071"/>
                  </a:lnTo>
                  <a:lnTo>
                    <a:pt x="10909592" y="323862"/>
                  </a:lnTo>
                  <a:lnTo>
                    <a:pt x="10952632" y="318071"/>
                  </a:lnTo>
                  <a:lnTo>
                    <a:pt x="10991317" y="301752"/>
                  </a:lnTo>
                  <a:lnTo>
                    <a:pt x="11024083" y="276428"/>
                  </a:lnTo>
                  <a:lnTo>
                    <a:pt x="11049406" y="243662"/>
                  </a:lnTo>
                  <a:lnTo>
                    <a:pt x="11065726" y="204978"/>
                  </a:lnTo>
                  <a:lnTo>
                    <a:pt x="11071517" y="161925"/>
                  </a:lnTo>
                  <a:close/>
                </a:path>
                <a:path w="14531975" h="343535">
                  <a:moveTo>
                    <a:pt x="14531683" y="161925"/>
                  </a:moveTo>
                  <a:lnTo>
                    <a:pt x="14525905" y="118884"/>
                  </a:lnTo>
                  <a:lnTo>
                    <a:pt x="14509572" y="80200"/>
                  </a:lnTo>
                  <a:lnTo>
                    <a:pt x="14484261" y="47434"/>
                  </a:lnTo>
                  <a:lnTo>
                    <a:pt x="14451483" y="22110"/>
                  </a:lnTo>
                  <a:lnTo>
                    <a:pt x="14412811" y="5791"/>
                  </a:lnTo>
                  <a:lnTo>
                    <a:pt x="14369758" y="0"/>
                  </a:lnTo>
                  <a:lnTo>
                    <a:pt x="14326718" y="5791"/>
                  </a:lnTo>
                  <a:lnTo>
                    <a:pt x="14288034" y="22110"/>
                  </a:lnTo>
                  <a:lnTo>
                    <a:pt x="14255268" y="47434"/>
                  </a:lnTo>
                  <a:lnTo>
                    <a:pt x="14229944" y="80200"/>
                  </a:lnTo>
                  <a:lnTo>
                    <a:pt x="14213624" y="118884"/>
                  </a:lnTo>
                  <a:lnTo>
                    <a:pt x="14207833" y="161925"/>
                  </a:lnTo>
                  <a:lnTo>
                    <a:pt x="14213624" y="204978"/>
                  </a:lnTo>
                  <a:lnTo>
                    <a:pt x="14229944" y="243662"/>
                  </a:lnTo>
                  <a:lnTo>
                    <a:pt x="14255268" y="276428"/>
                  </a:lnTo>
                  <a:lnTo>
                    <a:pt x="14288034" y="301752"/>
                  </a:lnTo>
                  <a:lnTo>
                    <a:pt x="14326718" y="318071"/>
                  </a:lnTo>
                  <a:lnTo>
                    <a:pt x="14369758" y="323862"/>
                  </a:lnTo>
                  <a:lnTo>
                    <a:pt x="14412811" y="318071"/>
                  </a:lnTo>
                  <a:lnTo>
                    <a:pt x="14451483" y="301752"/>
                  </a:lnTo>
                  <a:lnTo>
                    <a:pt x="14484261" y="276428"/>
                  </a:lnTo>
                  <a:lnTo>
                    <a:pt x="14509572" y="243662"/>
                  </a:lnTo>
                  <a:lnTo>
                    <a:pt x="14525905" y="204978"/>
                  </a:lnTo>
                  <a:lnTo>
                    <a:pt x="14531683" y="161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90663"/>
            <a:ext cx="6684009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380" dirty="0"/>
              <a:t>Methodology</a:t>
            </a:r>
            <a:endParaRPr sz="8000"/>
          </a:p>
        </p:txBody>
      </p:sp>
      <p:sp>
        <p:nvSpPr>
          <p:cNvPr id="6" name="object 6"/>
          <p:cNvSpPr txBox="1"/>
          <p:nvPr/>
        </p:nvSpPr>
        <p:spPr>
          <a:xfrm>
            <a:off x="542726" y="3448463"/>
            <a:ext cx="3175000" cy="146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130" dirty="0">
                <a:latin typeface="Arial Black"/>
                <a:cs typeface="Arial Black"/>
              </a:rPr>
              <a:t>Define</a:t>
            </a:r>
            <a:r>
              <a:rPr sz="3000" spc="-210" dirty="0">
                <a:latin typeface="Arial Black"/>
                <a:cs typeface="Arial Black"/>
              </a:rPr>
              <a:t> </a:t>
            </a:r>
            <a:r>
              <a:rPr sz="3000" spc="-145" dirty="0">
                <a:latin typeface="Arial Black"/>
                <a:cs typeface="Arial Black"/>
              </a:rPr>
              <a:t>Objective</a:t>
            </a:r>
            <a:endParaRPr sz="3000">
              <a:latin typeface="Arial Black"/>
              <a:cs typeface="Arial Black"/>
            </a:endParaRPr>
          </a:p>
          <a:p>
            <a:pPr marL="94615" marR="86995" algn="ctr">
              <a:lnSpc>
                <a:spcPct val="116100"/>
              </a:lnSpc>
              <a:spcBef>
                <a:spcPts val="1875"/>
              </a:spcBef>
            </a:pPr>
            <a:r>
              <a:rPr sz="2100" spc="-25" dirty="0">
                <a:latin typeface="Lucida Sans Unicode"/>
                <a:cs typeface="Lucida Sans Unicode"/>
              </a:rPr>
              <a:t>Determine</a:t>
            </a:r>
            <a:r>
              <a:rPr sz="2100" spc="-13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the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50" dirty="0">
                <a:latin typeface="Lucida Sans Unicode"/>
                <a:cs typeface="Lucida Sans Unicode"/>
              </a:rPr>
              <a:t>objective </a:t>
            </a:r>
            <a:r>
              <a:rPr sz="2100" spc="-20" dirty="0">
                <a:latin typeface="Lucida Sans Unicode"/>
                <a:cs typeface="Lucida Sans Unicode"/>
              </a:rPr>
              <a:t>and</a:t>
            </a:r>
            <a:r>
              <a:rPr sz="2100" spc="-1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scope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057" y="5400749"/>
            <a:ext cx="2933065" cy="1588135"/>
          </a:xfrm>
          <a:prstGeom prst="rect">
            <a:avLst/>
          </a:prstGeom>
        </p:spPr>
        <p:txBody>
          <a:bodyPr vert="horz" wrap="square" lIns="0" tIns="2559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14"/>
              </a:spcBef>
            </a:pPr>
            <a:r>
              <a:rPr sz="3000" spc="-145" dirty="0">
                <a:latin typeface="Arial Black"/>
                <a:cs typeface="Arial Black"/>
              </a:rPr>
              <a:t>Data</a:t>
            </a:r>
            <a:r>
              <a:rPr sz="3000" spc="-220" dirty="0">
                <a:latin typeface="Arial Black"/>
                <a:cs typeface="Arial Black"/>
              </a:rPr>
              <a:t> </a:t>
            </a:r>
            <a:r>
              <a:rPr sz="3000" spc="-120" dirty="0">
                <a:latin typeface="Arial Black"/>
                <a:cs typeface="Arial Black"/>
              </a:rPr>
              <a:t>Gathering</a:t>
            </a:r>
            <a:endParaRPr sz="3000">
              <a:latin typeface="Arial Black"/>
              <a:cs typeface="Arial Black"/>
            </a:endParaRPr>
          </a:p>
          <a:p>
            <a:pPr marL="290195" marR="282575" indent="-635" algn="ctr">
              <a:lnSpc>
                <a:spcPct val="116100"/>
              </a:lnSpc>
              <a:spcBef>
                <a:spcPts val="935"/>
              </a:spcBef>
            </a:pPr>
            <a:r>
              <a:rPr sz="2100" spc="-50" dirty="0">
                <a:latin typeface="Lucida Sans Unicode"/>
                <a:cs typeface="Lucida Sans Unicode"/>
              </a:rPr>
              <a:t>Conduct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data </a:t>
            </a:r>
            <a:r>
              <a:rPr sz="2100" spc="-55" dirty="0">
                <a:latin typeface="Lucida Sans Unicode"/>
                <a:cs typeface="Lucida Sans Unicode"/>
              </a:rPr>
              <a:t>gathering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spc="-30" dirty="0">
                <a:latin typeface="Lucida Sans Unicode"/>
                <a:cs typeface="Lucida Sans Unicode"/>
              </a:rPr>
              <a:t>with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SQL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2887" y="3503548"/>
            <a:ext cx="2863215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145" dirty="0">
                <a:latin typeface="Arial Black"/>
                <a:cs typeface="Arial Black"/>
              </a:rPr>
              <a:t>Data</a:t>
            </a:r>
            <a:r>
              <a:rPr sz="3000" spc="-220" dirty="0">
                <a:latin typeface="Arial Black"/>
                <a:cs typeface="Arial Black"/>
              </a:rPr>
              <a:t> </a:t>
            </a:r>
            <a:r>
              <a:rPr sz="3000" spc="-60" dirty="0">
                <a:latin typeface="Arial Black"/>
                <a:cs typeface="Arial Black"/>
              </a:rPr>
              <a:t>Cleaning</a:t>
            </a:r>
            <a:endParaRPr sz="3000" dirty="0">
              <a:latin typeface="Arial Black"/>
              <a:cs typeface="Arial Black"/>
            </a:endParaRPr>
          </a:p>
          <a:p>
            <a:pPr marL="12065" marR="5080" algn="ctr">
              <a:lnSpc>
                <a:spcPct val="116100"/>
              </a:lnSpc>
              <a:spcBef>
                <a:spcPts val="1745"/>
              </a:spcBef>
            </a:pPr>
            <a:r>
              <a:rPr sz="2100" spc="-70" dirty="0">
                <a:latin typeface="Lucida Sans Unicode"/>
                <a:cs typeface="Lucida Sans Unicode"/>
              </a:rPr>
              <a:t>Cleaning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35" dirty="0">
                <a:latin typeface="Lucida Sans Unicode"/>
                <a:cs typeface="Lucida Sans Unicode"/>
              </a:rPr>
              <a:t>Dataset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60" dirty="0">
                <a:latin typeface="Lucida Sans Unicode"/>
                <a:cs typeface="Lucida Sans Unicode"/>
              </a:rPr>
              <a:t>using </a:t>
            </a:r>
            <a:r>
              <a:rPr lang="en-US" sz="2100" spc="-10" dirty="0">
                <a:latin typeface="Lucida Sans Unicode"/>
                <a:cs typeface="Lucida Sans Unicode"/>
              </a:rPr>
              <a:t>SQL</a:t>
            </a:r>
            <a:r>
              <a:rPr sz="2100" spc="-10" dirty="0">
                <a:latin typeface="Lucida Sans Unicode"/>
                <a:cs typeface="Lucida Sans Unicode"/>
              </a:rPr>
              <a:t>.</a:t>
            </a:r>
            <a:endParaRPr sz="21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43048" y="5632608"/>
            <a:ext cx="3345815" cy="1722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latin typeface="Arial Black"/>
                <a:cs typeface="Arial Black"/>
              </a:rPr>
              <a:t>Data</a:t>
            </a:r>
            <a:r>
              <a:rPr sz="2800" spc="-175" dirty="0">
                <a:latin typeface="Arial Black"/>
                <a:cs typeface="Arial Black"/>
              </a:rPr>
              <a:t> </a:t>
            </a:r>
            <a:r>
              <a:rPr sz="2800" spc="-50" dirty="0">
                <a:latin typeface="Arial Black"/>
                <a:cs typeface="Arial Black"/>
              </a:rPr>
              <a:t>Analysis</a:t>
            </a:r>
            <a:endParaRPr sz="2800" dirty="0">
              <a:latin typeface="Arial Black"/>
              <a:cs typeface="Arial Black"/>
            </a:endParaRPr>
          </a:p>
          <a:p>
            <a:pPr marL="12700" marR="5080" algn="ctr">
              <a:lnSpc>
                <a:spcPct val="116100"/>
              </a:lnSpc>
              <a:spcBef>
                <a:spcPts val="1265"/>
              </a:spcBef>
            </a:pPr>
            <a:r>
              <a:rPr sz="2100" spc="-50" dirty="0">
                <a:latin typeface="Lucida Sans Unicode"/>
                <a:cs typeface="Lucida Sans Unicode"/>
              </a:rPr>
              <a:t>Conduct</a:t>
            </a:r>
            <a:r>
              <a:rPr sz="2100" spc="-95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data</a:t>
            </a:r>
            <a:r>
              <a:rPr sz="2100" spc="-95" dirty="0">
                <a:latin typeface="Lucida Sans Unicode"/>
                <a:cs typeface="Lucida Sans Unicode"/>
              </a:rPr>
              <a:t> </a:t>
            </a:r>
            <a:r>
              <a:rPr sz="2100" spc="-60" dirty="0">
                <a:latin typeface="Lucida Sans Unicode"/>
                <a:cs typeface="Lucida Sans Unicode"/>
              </a:rPr>
              <a:t>analysis</a:t>
            </a:r>
            <a:r>
              <a:rPr sz="2100" spc="-95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with </a:t>
            </a:r>
            <a:r>
              <a:rPr sz="2100" spc="-60" dirty="0">
                <a:latin typeface="Lucida Sans Unicode"/>
                <a:cs typeface="Lucida Sans Unicode"/>
              </a:rPr>
              <a:t>EDA</a:t>
            </a:r>
            <a:r>
              <a:rPr sz="2100" spc="-95" dirty="0">
                <a:latin typeface="Lucida Sans Unicode"/>
                <a:cs typeface="Lucida Sans Unicode"/>
              </a:rPr>
              <a:t> </a:t>
            </a:r>
            <a:r>
              <a:rPr sz="2100" spc="-85" dirty="0">
                <a:latin typeface="Lucida Sans Unicode"/>
                <a:cs typeface="Lucida Sans Unicode"/>
              </a:rPr>
              <a:t>using</a:t>
            </a:r>
            <a:r>
              <a:rPr sz="2100" spc="-95" dirty="0">
                <a:latin typeface="Lucida Sans Unicode"/>
                <a:cs typeface="Lucida Sans Unicode"/>
              </a:rPr>
              <a:t> </a:t>
            </a:r>
            <a:r>
              <a:rPr lang="en-US" sz="2100" spc="-70" dirty="0">
                <a:latin typeface="Lucida Sans Unicode"/>
                <a:cs typeface="Lucida Sans Unicode"/>
              </a:rPr>
              <a:t>SQL,</a:t>
            </a:r>
            <a:r>
              <a:rPr lang="en-US" sz="2100" spc="-25" dirty="0">
                <a:latin typeface="Lucida Sans Unicode"/>
                <a:cs typeface="Lucida Sans Unicode"/>
              </a:rPr>
              <a:t> Excel, </a:t>
            </a:r>
            <a:r>
              <a:rPr lang="en-US" sz="2100" spc="-10" dirty="0" err="1">
                <a:latin typeface="Lucida Sans Unicode"/>
                <a:cs typeface="Lucida Sans Unicode"/>
              </a:rPr>
              <a:t>PowerBI</a:t>
            </a:r>
            <a:endParaRPr sz="2100" dirty="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11" name="object 11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240046" y="3482530"/>
            <a:ext cx="5025390" cy="144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 Black"/>
                <a:cs typeface="Arial Black"/>
              </a:rPr>
              <a:t>Insight</a:t>
            </a:r>
            <a:r>
              <a:rPr sz="2800" spc="-200" dirty="0">
                <a:latin typeface="Arial Black"/>
                <a:cs typeface="Arial Black"/>
              </a:rPr>
              <a:t> </a:t>
            </a:r>
            <a:r>
              <a:rPr sz="2800" spc="-400" dirty="0">
                <a:latin typeface="Arial Black"/>
                <a:cs typeface="Arial Black"/>
              </a:rPr>
              <a:t>&amp;</a:t>
            </a:r>
            <a:r>
              <a:rPr sz="2800" spc="-195" dirty="0">
                <a:latin typeface="Arial Black"/>
                <a:cs typeface="Arial Black"/>
              </a:rPr>
              <a:t> </a:t>
            </a:r>
            <a:r>
              <a:rPr sz="2800" spc="-150" dirty="0">
                <a:latin typeface="Arial Black"/>
                <a:cs typeface="Arial Black"/>
              </a:rPr>
              <a:t>Recommendations</a:t>
            </a:r>
            <a:endParaRPr sz="2800">
              <a:latin typeface="Arial Black"/>
              <a:cs typeface="Arial Black"/>
            </a:endParaRPr>
          </a:p>
          <a:p>
            <a:pPr marL="1590675" marR="1089025" indent="47625">
              <a:lnSpc>
                <a:spcPct val="116100"/>
              </a:lnSpc>
              <a:spcBef>
                <a:spcPts val="2000"/>
              </a:spcBef>
            </a:pPr>
            <a:r>
              <a:rPr sz="2100" spc="-10" dirty="0">
                <a:latin typeface="Lucida Sans Unicode"/>
                <a:cs typeface="Lucida Sans Unicode"/>
              </a:rPr>
              <a:t>Provide</a:t>
            </a:r>
            <a:r>
              <a:rPr sz="2100" spc="-85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Insights</a:t>
            </a:r>
            <a:r>
              <a:rPr sz="2100" spc="-85" dirty="0">
                <a:latin typeface="Lucida Sans Unicode"/>
                <a:cs typeface="Lucida Sans Unicode"/>
              </a:rPr>
              <a:t> </a:t>
            </a:r>
            <a:r>
              <a:rPr sz="2100" spc="5" dirty="0">
                <a:latin typeface="Lucida Sans Unicode"/>
                <a:cs typeface="Lucida Sans Unicode"/>
              </a:rPr>
              <a:t>&amp; </a:t>
            </a:r>
            <a:r>
              <a:rPr sz="2100" spc="-35" dirty="0">
                <a:latin typeface="Lucida Sans Unicode"/>
                <a:cs typeface="Lucida Sans Unicode"/>
              </a:rPr>
              <a:t>Recommendations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5" name="object 5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-12700" y="245933"/>
            <a:ext cx="1650047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325" dirty="0"/>
              <a:t>Appendix</a:t>
            </a:r>
            <a:r>
              <a:rPr sz="5200" spc="-500" dirty="0"/>
              <a:t> </a:t>
            </a:r>
            <a:r>
              <a:rPr sz="5200" spc="-315" dirty="0"/>
              <a:t>:</a:t>
            </a:r>
            <a:r>
              <a:rPr sz="5200" spc="-495" dirty="0"/>
              <a:t> </a:t>
            </a:r>
            <a:r>
              <a:rPr sz="5200" spc="-330" dirty="0"/>
              <a:t>Data</a:t>
            </a:r>
            <a:r>
              <a:rPr sz="5200" spc="-495" dirty="0"/>
              <a:t> </a:t>
            </a:r>
            <a:r>
              <a:rPr sz="5200" spc="-330" dirty="0"/>
              <a:t>Gathering,</a:t>
            </a:r>
            <a:r>
              <a:rPr sz="5200" spc="-495" dirty="0"/>
              <a:t> </a:t>
            </a:r>
            <a:r>
              <a:rPr sz="5200" spc="-355" dirty="0"/>
              <a:t>Cleaning</a:t>
            </a:r>
            <a:r>
              <a:rPr sz="5200" spc="-495" dirty="0"/>
              <a:t> </a:t>
            </a:r>
            <a:r>
              <a:rPr sz="5200" spc="-295" dirty="0"/>
              <a:t>and</a:t>
            </a:r>
            <a:r>
              <a:rPr sz="5200" spc="-495" dirty="0"/>
              <a:t> </a:t>
            </a:r>
            <a:r>
              <a:rPr sz="5200" spc="-335" dirty="0"/>
              <a:t>Clustering</a:t>
            </a:r>
            <a:endParaRPr sz="5200"/>
          </a:p>
        </p:txBody>
      </p:sp>
      <p:sp>
        <p:nvSpPr>
          <p:cNvPr id="12" name="object 12"/>
          <p:cNvSpPr txBox="1"/>
          <p:nvPr/>
        </p:nvSpPr>
        <p:spPr>
          <a:xfrm>
            <a:off x="504499" y="1419493"/>
            <a:ext cx="16792901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254" dirty="0">
                <a:latin typeface="Arial Black"/>
                <a:cs typeface="Arial Black"/>
              </a:rPr>
              <a:t>Data</a:t>
            </a:r>
            <a:r>
              <a:rPr sz="4100" spc="-395" dirty="0">
                <a:latin typeface="Arial Black"/>
                <a:cs typeface="Arial Black"/>
              </a:rPr>
              <a:t> </a:t>
            </a:r>
            <a:r>
              <a:rPr sz="4100" spc="-265" dirty="0">
                <a:latin typeface="Arial Black"/>
                <a:cs typeface="Arial Black"/>
              </a:rPr>
              <a:t>Gathering</a:t>
            </a:r>
            <a:r>
              <a:rPr sz="4100" spc="-395" dirty="0">
                <a:latin typeface="Arial Black"/>
                <a:cs typeface="Arial Black"/>
              </a:rPr>
              <a:t> </a:t>
            </a:r>
            <a:r>
              <a:rPr sz="4100" spc="-240" dirty="0">
                <a:latin typeface="Arial Black"/>
                <a:cs typeface="Arial Black"/>
              </a:rPr>
              <a:t>:</a:t>
            </a:r>
            <a:r>
              <a:rPr sz="4100" spc="-390" dirty="0">
                <a:latin typeface="Arial Black"/>
                <a:cs typeface="Arial Black"/>
              </a:rPr>
              <a:t> </a:t>
            </a:r>
            <a:r>
              <a:rPr sz="4100" spc="-285" dirty="0">
                <a:latin typeface="Arial Black"/>
                <a:cs typeface="Arial Black"/>
              </a:rPr>
              <a:t>with</a:t>
            </a:r>
            <a:r>
              <a:rPr sz="4100" spc="-395" dirty="0">
                <a:latin typeface="Arial Black"/>
                <a:cs typeface="Arial Black"/>
              </a:rPr>
              <a:t> SQL</a:t>
            </a:r>
            <a:r>
              <a:rPr lang="en-US" sz="4100" spc="-395" dirty="0">
                <a:latin typeface="Arial Black"/>
                <a:cs typeface="Arial Black"/>
              </a:rPr>
              <a:t> (start from here)</a:t>
            </a:r>
            <a:endParaRPr sz="410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449" y="7292056"/>
            <a:ext cx="5743901" cy="17314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200"/>
              </a:lnSpc>
              <a:spcBef>
                <a:spcPts val="95"/>
              </a:spcBef>
            </a:pPr>
            <a:r>
              <a:rPr sz="4100" spc="-254" dirty="0">
                <a:latin typeface="Arial Black"/>
                <a:cs typeface="Arial Black"/>
              </a:rPr>
              <a:t>Data</a:t>
            </a:r>
            <a:r>
              <a:rPr sz="4100" spc="-395" dirty="0">
                <a:latin typeface="Arial Black"/>
                <a:cs typeface="Arial Black"/>
              </a:rPr>
              <a:t> </a:t>
            </a:r>
            <a:r>
              <a:rPr sz="4100" spc="-285" dirty="0">
                <a:latin typeface="Arial Black"/>
                <a:cs typeface="Arial Black"/>
              </a:rPr>
              <a:t>Cleaning </a:t>
            </a:r>
            <a:endParaRPr lang="en-US" sz="4100" spc="-285" dirty="0">
              <a:latin typeface="Arial Black"/>
              <a:cs typeface="Arial Black"/>
            </a:endParaRPr>
          </a:p>
          <a:p>
            <a:pPr marL="12700" marR="5080">
              <a:lnSpc>
                <a:spcPct val="142200"/>
              </a:lnSpc>
              <a:spcBef>
                <a:spcPts val="95"/>
              </a:spcBef>
            </a:pPr>
            <a:r>
              <a:rPr lang="en-US" sz="4100" spc="-265" dirty="0">
                <a:latin typeface="Arial Black"/>
                <a:cs typeface="Arial Black"/>
              </a:rPr>
              <a:t>RFM and Cohort Query</a:t>
            </a:r>
            <a:endParaRPr sz="4100" dirty="0">
              <a:latin typeface="Arial Black"/>
              <a:cs typeface="Arial Black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258200F8-C89D-453F-A4A3-C53A1A55B0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367" y="7445266"/>
            <a:ext cx="791300" cy="791300"/>
          </a:xfrm>
          <a:prstGeom prst="rect">
            <a:avLst/>
          </a:prstGeom>
        </p:spPr>
      </p:pic>
      <p:pic>
        <p:nvPicPr>
          <p:cNvPr id="17" name="Picture 16">
            <a:hlinkClick r:id="rId4"/>
            <a:extLst>
              <a:ext uri="{FF2B5EF4-FFF2-40B4-BE49-F238E27FC236}">
                <a16:creationId xmlns:a16="http://schemas.microsoft.com/office/drawing/2014/main" id="{3B33B640-68BE-43F5-8DF8-7EE280E89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474" y="8236566"/>
            <a:ext cx="791300" cy="791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7BE0A4-0491-4616-97D8-D11FF9B434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9" y="2135938"/>
            <a:ext cx="5967132" cy="5238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4885FF-DA41-4485-A341-BA818639C6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602" y="2162726"/>
            <a:ext cx="5610677" cy="5241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12470" y="-314540"/>
            <a:ext cx="17552035" cy="1717008"/>
          </a:xfrm>
          <a:prstGeom prst="rect">
            <a:avLst/>
          </a:prstGeom>
        </p:spPr>
        <p:txBody>
          <a:bodyPr vert="horz" wrap="square" lIns="0" tIns="481203" rIns="0" bIns="0" rtlCol="0">
            <a:spAutoFit/>
          </a:bodyPr>
          <a:lstStyle/>
          <a:p>
            <a:pPr marL="76327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Cohort Retention Analysis – to understanding  WHEN Customer  Churn</a:t>
            </a:r>
            <a:endParaRPr sz="4000" dirty="0"/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xfrm>
            <a:off x="9993611" y="1970575"/>
            <a:ext cx="7879715" cy="35221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lang="en-US" sz="2000" dirty="0"/>
              <a:t>The business faces a critical retention crisis with 95% of customer churning immediately after their first purchase across all cohort from 2023-2024. This systematic problem is evident in the January 2023 cohort where 265 customers were acquired but only 3.4% returned in month 2, losing 256 customers </a:t>
            </a:r>
            <a:r>
              <a:rPr lang="en-US" sz="2000" dirty="0" err="1"/>
              <a:t>instanly</a:t>
            </a:r>
            <a:r>
              <a:rPr lang="en-US" sz="2000" dirty="0"/>
              <a:t>. The Situation has deteriorated significantly as new customer acquisition collapsed 99.6% from 265 customers in January 2023 to just 1 customer in December 2024, indicating severely weakening </a:t>
            </a:r>
            <a:r>
              <a:rPr lang="en-US" sz="2000" dirty="0" err="1"/>
              <a:t>acquisiton</a:t>
            </a:r>
            <a:r>
              <a:rPr lang="en-US" sz="2000" dirty="0"/>
              <a:t> channels and highlighting an unsustainable business model dependent on constant new customer influx.</a:t>
            </a:r>
            <a:endParaRPr lang="en-US" sz="2000" dirty="0">
              <a:solidFill>
                <a:schemeClr val="tx1"/>
              </a:solidFill>
              <a:latin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93611" y="5492758"/>
            <a:ext cx="7879715" cy="2106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lang="en-US" sz="2000" dirty="0">
                <a:latin typeface="Arial MT"/>
                <a:cs typeface="Arial MT"/>
              </a:rPr>
              <a:t>While Q4 Periods (Oct-Dec) consistently show relatively stronger retention rate 0f ~5%, with peak performance in April 2023 (5.8%) and November 2024(5.6%), the business experienced failure during Q2-Q3 2024.May and august 2024 record with the </a:t>
            </a:r>
            <a:r>
              <a:rPr lang="en-US" sz="2000" dirty="0" err="1">
                <a:latin typeface="Arial MT"/>
                <a:cs typeface="Arial MT"/>
              </a:rPr>
              <a:t>lowes</a:t>
            </a:r>
            <a:r>
              <a:rPr lang="en-US" sz="2000" dirty="0">
                <a:latin typeface="Arial MT"/>
                <a:cs typeface="Arial MT"/>
              </a:rPr>
              <a:t> retention with (0.75% and 0.67%), suggesting potential  operational issues, product quality problems, or market saturation during mid-year.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27" name="object 27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2A6F52B9-529A-4DD3-BAC3-4BC4C8AC2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824237"/>
            <a:ext cx="9681490" cy="6672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4">
            <a:extLst>
              <a:ext uri="{FF2B5EF4-FFF2-40B4-BE49-F238E27FC236}">
                <a16:creationId xmlns:a16="http://schemas.microsoft.com/office/drawing/2014/main" id="{4D385270-2EE3-4692-A6B1-4F912B03FE8B}"/>
              </a:ext>
            </a:extLst>
          </p:cNvPr>
          <p:cNvSpPr/>
          <p:nvPr/>
        </p:nvSpPr>
        <p:spPr>
          <a:xfrm>
            <a:off x="2925140" y="2661272"/>
            <a:ext cx="13538969" cy="2549525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4" y="2541891"/>
                </a:lnTo>
                <a:lnTo>
                  <a:pt x="58351" y="2521650"/>
                </a:lnTo>
                <a:lnTo>
                  <a:pt x="27514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4" y="58350"/>
                </a:lnTo>
                <a:lnTo>
                  <a:pt x="58351" y="27513"/>
                </a:lnTo>
                <a:lnTo>
                  <a:pt x="97414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8" y="97413"/>
                </a:lnTo>
                <a:lnTo>
                  <a:pt x="6193673" y="112021"/>
                </a:lnTo>
                <a:lnTo>
                  <a:pt x="6193673" y="2437143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2920224" y="5576102"/>
            <a:ext cx="13538969" cy="3121373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4" y="2541891"/>
                </a:lnTo>
                <a:lnTo>
                  <a:pt x="58351" y="2521650"/>
                </a:lnTo>
                <a:lnTo>
                  <a:pt x="27514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4" y="58350"/>
                </a:lnTo>
                <a:lnTo>
                  <a:pt x="58351" y="27513"/>
                </a:lnTo>
                <a:lnTo>
                  <a:pt x="97414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8" y="97413"/>
                </a:lnTo>
                <a:lnTo>
                  <a:pt x="6193673" y="112021"/>
                </a:lnTo>
                <a:lnTo>
                  <a:pt x="6193673" y="2437143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50634" y="2779177"/>
            <a:ext cx="12678147" cy="2128788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302895" algn="l">
              <a:lnSpc>
                <a:spcPct val="100000"/>
              </a:lnSpc>
              <a:spcBef>
                <a:spcPts val="1540"/>
              </a:spcBef>
            </a:pPr>
            <a:r>
              <a:rPr lang="en-US" sz="2200" spc="-140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Cohort analysis shows that 95% of customers never return after their first purchase. However, it cannot answer:</a:t>
            </a:r>
          </a:p>
          <a:p>
            <a:pPr marL="342900" marR="302895" indent="-342900" algn="l">
              <a:lnSpc>
                <a:spcPct val="100000"/>
              </a:lnSpc>
              <a:spcBef>
                <a:spcPts val="1540"/>
              </a:spcBef>
              <a:buFont typeface="Courier New" panose="02070309020205020404" pitchFamily="49" charset="0"/>
              <a:buChar char="o"/>
            </a:pPr>
            <a:r>
              <a:rPr lang="en-US" sz="2200" spc="-140" dirty="0">
                <a:latin typeface="Cambria Math" panose="02040503050406030204" pitchFamily="18" charset="0"/>
                <a:ea typeface="Cambria Math" panose="02040503050406030204" pitchFamily="18" charset="0"/>
                <a:cs typeface="Arial Black"/>
              </a:rPr>
              <a:t>Which customers in that remaining 5% are actually driving revenue ?</a:t>
            </a:r>
          </a:p>
          <a:p>
            <a:pPr marL="342900" marR="302895" indent="-342900" algn="l">
              <a:lnSpc>
                <a:spcPct val="100000"/>
              </a:lnSpc>
              <a:spcBef>
                <a:spcPts val="1540"/>
              </a:spcBef>
              <a:buFont typeface="Courier New" panose="02070309020205020404" pitchFamily="49" charset="0"/>
              <a:buChar char="o"/>
            </a:pPr>
            <a:r>
              <a:rPr lang="en-US" sz="2200" spc="-140" dirty="0">
                <a:latin typeface="Cambria Math" panose="02040503050406030204" pitchFamily="18" charset="0"/>
                <a:ea typeface="Cambria Math" panose="02040503050406030204" pitchFamily="18" charset="0"/>
                <a:cs typeface="Arial Black"/>
              </a:rPr>
              <a:t>Are we losing high-value customers or low-value ones ?</a:t>
            </a:r>
          </a:p>
          <a:p>
            <a:pPr marL="342900" marR="302895" indent="-342900" algn="l">
              <a:lnSpc>
                <a:spcPct val="100000"/>
              </a:lnSpc>
              <a:spcBef>
                <a:spcPts val="1540"/>
              </a:spcBef>
              <a:buFont typeface="Courier New" panose="02070309020205020404" pitchFamily="49" charset="0"/>
              <a:buChar char="o"/>
            </a:pPr>
            <a:r>
              <a:rPr lang="en-US" sz="2200" spc="-140" dirty="0">
                <a:latin typeface="Cambria Math" panose="02040503050406030204" pitchFamily="18" charset="0"/>
                <a:ea typeface="Cambria Math" panose="02040503050406030204" pitchFamily="18" charset="0"/>
                <a:cs typeface="Arial Black"/>
              </a:rPr>
              <a:t>Which segments should receive priority in retention campaigns ?</a:t>
            </a:r>
            <a:endParaRPr sz="2200" dirty="0">
              <a:latin typeface="Cambria Math" panose="02040503050406030204" pitchFamily="18" charset="0"/>
              <a:ea typeface="Cambria Math" panose="02040503050406030204" pitchFamily="18" charset="0"/>
              <a:cs typeface="Arial Black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32591" y="145561"/>
            <a:ext cx="982281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b="1" i="0" dirty="0">
                <a:effectLst/>
                <a:latin typeface="consolas" panose="020B0609020204030204" pitchFamily="49" charset="0"/>
              </a:rPr>
              <a:t>Customer Segmentation Using RFM Analysis - Understanding WHO our valuable Customers Are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350634" y="5653363"/>
            <a:ext cx="12678147" cy="2652008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480"/>
              </a:spcBef>
            </a:pPr>
            <a:r>
              <a:rPr lang="en-US" sz="2200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RFM (recency, frequency, monetary) analysis segmenting customers based on behavioral pattern to identify :</a:t>
            </a:r>
          </a:p>
          <a:p>
            <a:pPr marL="629285" indent="-342900">
              <a:lnSpc>
                <a:spcPct val="100000"/>
              </a:lnSpc>
              <a:spcBef>
                <a:spcPts val="1480"/>
              </a:spcBef>
              <a:buFont typeface="Courier New" panose="02070309020205020404" pitchFamily="49" charset="0"/>
              <a:buChar char="o"/>
            </a:pPr>
            <a:r>
              <a:rPr lang="en-US" sz="2200" b="1" spc="-114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High-value Customers </a:t>
            </a:r>
            <a:r>
              <a:rPr lang="en-US" sz="2200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worth retaining (</a:t>
            </a:r>
            <a:r>
              <a:rPr lang="en-US" sz="2200" i="1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Champions, Loyal)</a:t>
            </a:r>
          </a:p>
          <a:p>
            <a:pPr marL="629285" indent="-342900">
              <a:lnSpc>
                <a:spcPct val="100000"/>
              </a:lnSpc>
              <a:spcBef>
                <a:spcPts val="1480"/>
              </a:spcBef>
              <a:buFont typeface="Courier New" panose="02070309020205020404" pitchFamily="49" charset="0"/>
              <a:buChar char="o"/>
            </a:pPr>
            <a:r>
              <a:rPr lang="en-US" sz="2200" b="1" spc="-114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At-risk Customers </a:t>
            </a:r>
            <a:r>
              <a:rPr lang="en-US" sz="2200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who used to be valuable (</a:t>
            </a:r>
            <a:r>
              <a:rPr lang="en-US" sz="2200" i="1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Need Attention)</a:t>
            </a:r>
          </a:p>
          <a:p>
            <a:pPr marL="629285" indent="-342900">
              <a:lnSpc>
                <a:spcPct val="100000"/>
              </a:lnSpc>
              <a:spcBef>
                <a:spcPts val="1480"/>
              </a:spcBef>
              <a:buFont typeface="Courier New" panose="02070309020205020404" pitchFamily="49" charset="0"/>
              <a:buChar char="o"/>
            </a:pPr>
            <a:r>
              <a:rPr lang="en-US" sz="2200" b="1" spc="-114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Lost Customers </a:t>
            </a:r>
            <a:r>
              <a:rPr lang="en-US" sz="2200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Who may be reactivable (</a:t>
            </a:r>
            <a:r>
              <a:rPr lang="en-US" sz="2200" i="1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Hibernating,  Lost)</a:t>
            </a:r>
          </a:p>
          <a:p>
            <a:pPr marL="629285" indent="-342900">
              <a:lnSpc>
                <a:spcPct val="100000"/>
              </a:lnSpc>
              <a:spcBef>
                <a:spcPts val="1480"/>
              </a:spcBef>
              <a:buFont typeface="Courier New" panose="02070309020205020404" pitchFamily="49" charset="0"/>
              <a:buChar char="o"/>
            </a:pPr>
            <a:r>
              <a:rPr lang="en-US" sz="2200" b="1" spc="-114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Low Value Customers </a:t>
            </a:r>
            <a:r>
              <a:rPr lang="en-US" sz="2200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not worth </a:t>
            </a:r>
            <a:r>
              <a:rPr lang="en-US" sz="2200" i="1" spc="-114" dirty="0">
                <a:latin typeface="Cambria" panose="02040503050406030204" pitchFamily="18" charset="0"/>
                <a:ea typeface="Cambria" panose="02040503050406030204" pitchFamily="18" charset="0"/>
                <a:cs typeface="Arial Black"/>
              </a:rPr>
              <a:t>retention investment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 Black"/>
            </a:endParaRPr>
          </a:p>
        </p:txBody>
      </p:sp>
      <p:sp>
        <p:nvSpPr>
          <p:cNvPr id="33" name="object 26">
            <a:extLst>
              <a:ext uri="{FF2B5EF4-FFF2-40B4-BE49-F238E27FC236}">
                <a16:creationId xmlns:a16="http://schemas.microsoft.com/office/drawing/2014/main" id="{07F1EC4A-3A6D-4332-BBC5-9D365A899A74}"/>
              </a:ext>
            </a:extLst>
          </p:cNvPr>
          <p:cNvSpPr txBox="1">
            <a:spLocks/>
          </p:cNvSpPr>
          <p:nvPr/>
        </p:nvSpPr>
        <p:spPr>
          <a:xfrm>
            <a:off x="2438400" y="1790700"/>
            <a:ext cx="703935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US" sz="3200" b="1" dirty="0">
                <a:latin typeface="consolas" panose="020B0609020204030204" pitchFamily="49" charset="0"/>
              </a:rPr>
              <a:t>Why RFM Analysis Matters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4">
            <a:extLst>
              <a:ext uri="{FF2B5EF4-FFF2-40B4-BE49-F238E27FC236}">
                <a16:creationId xmlns:a16="http://schemas.microsoft.com/office/drawing/2014/main" id="{4D385270-2EE3-4692-A6B1-4F912B03FE8B}"/>
              </a:ext>
            </a:extLst>
          </p:cNvPr>
          <p:cNvSpPr/>
          <p:nvPr/>
        </p:nvSpPr>
        <p:spPr>
          <a:xfrm>
            <a:off x="2209800" y="1198785"/>
            <a:ext cx="13538969" cy="6764115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4" y="2541891"/>
                </a:lnTo>
                <a:lnTo>
                  <a:pt x="58351" y="2521650"/>
                </a:lnTo>
                <a:lnTo>
                  <a:pt x="27514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4" y="58350"/>
                </a:lnTo>
                <a:lnTo>
                  <a:pt x="58351" y="27513"/>
                </a:lnTo>
                <a:lnTo>
                  <a:pt x="97414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8" y="97413"/>
                </a:lnTo>
                <a:lnTo>
                  <a:pt x="6193673" y="112021"/>
                </a:lnTo>
                <a:lnTo>
                  <a:pt x="6193673" y="2437143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6">
            <a:extLst>
              <a:ext uri="{FF2B5EF4-FFF2-40B4-BE49-F238E27FC236}">
                <a16:creationId xmlns:a16="http://schemas.microsoft.com/office/drawing/2014/main" id="{07F1EC4A-3A6D-4332-BBC5-9D365A899A74}"/>
              </a:ext>
            </a:extLst>
          </p:cNvPr>
          <p:cNvSpPr txBox="1">
            <a:spLocks/>
          </p:cNvSpPr>
          <p:nvPr/>
        </p:nvSpPr>
        <p:spPr>
          <a:xfrm>
            <a:off x="381000" y="274594"/>
            <a:ext cx="703935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US" sz="3200" b="1" dirty="0">
                <a:latin typeface="consolas" panose="020B0609020204030204" pitchFamily="49" charset="0"/>
              </a:rPr>
              <a:t>RFM Methodology Summary: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ACFAD0EB-2866-4533-B4D2-1BADF6C5A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41251"/>
              </p:ext>
            </p:extLst>
          </p:nvPr>
        </p:nvGraphicFramePr>
        <p:xfrm>
          <a:off x="2883284" y="1647142"/>
          <a:ext cx="12192000" cy="5867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07916">
                  <a:extLst>
                    <a:ext uri="{9D8B030D-6E8A-4147-A177-3AD203B41FA5}">
                      <a16:colId xmlns:a16="http://schemas.microsoft.com/office/drawing/2014/main" val="4138429679"/>
                    </a:ext>
                  </a:extLst>
                </a:gridCol>
                <a:gridCol w="9284084">
                  <a:extLst>
                    <a:ext uri="{9D8B030D-6E8A-4147-A177-3AD203B41FA5}">
                      <a16:colId xmlns:a16="http://schemas.microsoft.com/office/drawing/2014/main" val="4068819871"/>
                    </a:ext>
                  </a:extLst>
                </a:gridCol>
              </a:tblGrid>
              <a:tr h="9779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Step</a:t>
                      </a:r>
                      <a:endPara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467593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Data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Sales, customer, product, and store tables are joined after data cleaning. Analysis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periode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is limit to 2023-2024.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504375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Transactions are aggregated at customer level to calculate recency, frequency, monetary and average order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183496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RFM Values are scored using quantile-based segmentation (NTILE 1-5), where higher scores indicate stronger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43027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RFM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RFM Cell is created by concatenating R,F and M values (e.g., 555). Total RFM scores is calculated by summations.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25427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Customers are grouped into business segments such as Champion, Loyal, Potential Loyal, Hibernating Lost and At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19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54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4">
            <a:extLst>
              <a:ext uri="{FF2B5EF4-FFF2-40B4-BE49-F238E27FC236}">
                <a16:creationId xmlns:a16="http://schemas.microsoft.com/office/drawing/2014/main" id="{4D385270-2EE3-4692-A6B1-4F912B03FE8B}"/>
              </a:ext>
            </a:extLst>
          </p:cNvPr>
          <p:cNvSpPr/>
          <p:nvPr/>
        </p:nvSpPr>
        <p:spPr>
          <a:xfrm>
            <a:off x="2374514" y="2705100"/>
            <a:ext cx="13538969" cy="2819400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4" y="2541891"/>
                </a:lnTo>
                <a:lnTo>
                  <a:pt x="58351" y="2521650"/>
                </a:lnTo>
                <a:lnTo>
                  <a:pt x="27514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4" y="58350"/>
                </a:lnTo>
                <a:lnTo>
                  <a:pt x="58351" y="27513"/>
                </a:lnTo>
                <a:lnTo>
                  <a:pt x="97414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8" y="97413"/>
                </a:lnTo>
                <a:lnTo>
                  <a:pt x="6193673" y="112021"/>
                </a:lnTo>
                <a:lnTo>
                  <a:pt x="6193673" y="2437143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6">
            <a:extLst>
              <a:ext uri="{FF2B5EF4-FFF2-40B4-BE49-F238E27FC236}">
                <a16:creationId xmlns:a16="http://schemas.microsoft.com/office/drawing/2014/main" id="{07F1EC4A-3A6D-4332-BBC5-9D365A899A74}"/>
              </a:ext>
            </a:extLst>
          </p:cNvPr>
          <p:cNvSpPr txBox="1">
            <a:spLocks/>
          </p:cNvSpPr>
          <p:nvPr/>
        </p:nvSpPr>
        <p:spPr>
          <a:xfrm>
            <a:off x="2590799" y="3492835"/>
            <a:ext cx="1310640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US" sz="4000" b="1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Combined Insights - Connecting Retention Patterns to customer Value</a:t>
            </a:r>
          </a:p>
        </p:txBody>
      </p:sp>
    </p:spTree>
    <p:extLst>
      <p:ext uri="{BB962C8B-B14F-4D97-AF65-F5344CB8AC3E}">
        <p14:creationId xmlns:p14="http://schemas.microsoft.com/office/powerpoint/2010/main" val="228858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 txBox="1"/>
          <p:nvPr/>
        </p:nvSpPr>
        <p:spPr>
          <a:xfrm>
            <a:off x="196646" y="1226629"/>
            <a:ext cx="6983730" cy="5062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Q1–Q3 2023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revenues grew from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$608K to $652K .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In other words, revenues grew by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+7.2%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 the first half of 2023. However, in Q4 there was a significant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decline to $631K (−3.2%).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Overall, this year the retail sector generated a total revenue of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$2.526M.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Q1-Q2 2024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revenue showed a strong recovery to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$608K and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followed by a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peak in Q2 at $648K (+2.7% compared to Q4 2023)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. However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, Q3–Q4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experienced a continuous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decline from $610K to $609K (−6% from the Q1–Q2 peak).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Overall, in 2024, retail generated a total revenue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of $2.476M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representing a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−1.98% decrease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compared to the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previous year</a:t>
            </a:r>
            <a:r>
              <a:rPr lang="en-US" sz="2200" dirty="0"/>
              <a:t>.</a:t>
            </a:r>
            <a:endParaRPr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84378" y="5676901"/>
            <a:ext cx="10506976" cy="35051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Connecting to Cohort Insights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 When we overlay cohort data with revenue trends: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1. Q4 revenue drops align with cohort size decline 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-&gt; Fewer new customers = lower revenue potential.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2. Q1 up to Q2 revenue spikes coincide with larger cohorts </a:t>
            </a:r>
          </a:p>
          <a:p>
            <a:pPr marL="12700" marR="5080" lvl="2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-&gt; Acquisition volume still drives short-term revenue.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3. Mid-year revenue decline (Q3 2024) matches retention collapse </a:t>
            </a:r>
          </a:p>
          <a:p>
            <a:pPr marL="12700" marR="5080" lvl="1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-&gt; May-Aug 2024 cohorts had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0.67-0.75%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retention and contributed minimal revenue.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0" y="-20782"/>
            <a:ext cx="15126969" cy="93358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5840" marR="5080" indent="-3533775" algn="l">
              <a:lnSpc>
                <a:spcPts val="6900"/>
              </a:lnSpc>
              <a:spcBef>
                <a:spcPts val="380"/>
              </a:spcBef>
            </a:pPr>
            <a:r>
              <a:rPr lang="en-US" sz="5800" spc="-27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Quaterly</a:t>
            </a:r>
            <a:r>
              <a:rPr lang="en-US" sz="5800" spc="-270" dirty="0">
                <a:latin typeface="Cambria Math" panose="02040503050406030204" pitchFamily="18" charset="0"/>
                <a:ea typeface="Cambria Math" panose="02040503050406030204" pitchFamily="18" charset="0"/>
              </a:rPr>
              <a:t> revenue trends for 2023 to 2024</a:t>
            </a:r>
            <a:endParaRPr sz="5800" spc="-27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40" name="object 40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37">
            <a:extLst>
              <a:ext uri="{FF2B5EF4-FFF2-40B4-BE49-F238E27FC236}">
                <a16:creationId xmlns:a16="http://schemas.microsoft.com/office/drawing/2014/main" id="{9D313ADE-9E27-4FBA-9066-DE481BCB6DC5}"/>
              </a:ext>
            </a:extLst>
          </p:cNvPr>
          <p:cNvSpPr txBox="1"/>
          <p:nvPr/>
        </p:nvSpPr>
        <p:spPr>
          <a:xfrm>
            <a:off x="196646" y="7246348"/>
            <a:ext cx="7084380" cy="1814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Insight: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business is </a:t>
            </a:r>
            <a:r>
              <a:rPr lang="en-US" sz="24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trappe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in a 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"Leaky Bucket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" model -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constanly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needing new customers because existing ones don't return, making revenue entirely dependent on acquisition volume.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166DB-7AC8-4FED-B7EC-BDAF385BA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78" y="1226629"/>
            <a:ext cx="10322622" cy="41926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371643" y="-266700"/>
            <a:ext cx="13544712" cy="872432"/>
          </a:xfrm>
          <a:prstGeom prst="rect">
            <a:avLst/>
          </a:prstGeom>
        </p:spPr>
        <p:txBody>
          <a:bodyPr vert="horz" wrap="square" lIns="0" tIns="114314" rIns="0" bIns="0" rtlCol="0">
            <a:spAutoFit/>
          </a:bodyPr>
          <a:lstStyle/>
          <a:p>
            <a:pPr marL="6170930" marR="5080" indent="-3946525" algn="l">
              <a:lnSpc>
                <a:spcPts val="6900"/>
              </a:lnSpc>
              <a:spcBef>
                <a:spcPts val="259"/>
              </a:spcBef>
            </a:pPr>
            <a:r>
              <a:rPr lang="en-US" sz="3200" spc="-180" dirty="0">
                <a:latin typeface="Cambria Math" panose="02040503050406030204" pitchFamily="18" charset="0"/>
                <a:ea typeface="Cambria Math" panose="02040503050406030204" pitchFamily="18" charset="0"/>
              </a:rPr>
              <a:t>Distribution of Customer after we do segmentation using RFM</a:t>
            </a:r>
            <a:endParaRPr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33" name="object 33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960DC56-2766-41FE-B392-97AC91D648EE}"/>
              </a:ext>
            </a:extLst>
          </p:cNvPr>
          <p:cNvSpPr txBox="1"/>
          <p:nvPr/>
        </p:nvSpPr>
        <p:spPr>
          <a:xfrm>
            <a:off x="1379128" y="4787892"/>
            <a:ext cx="15986944" cy="437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Connecting to Cohort Churn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 60% concentration in Hibernate/At-Risk/Lost segments directly validates the cohort finding that 95% of customers churn immediately: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Most customers make 1-2 purchases then disappear</a:t>
            </a:r>
          </a:p>
          <a:p>
            <a:pPr marL="12700" marR="5080" lvl="1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 -&gt; classified as "Hibernating" or "Lost".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Very few into "Loyal" or "Champions" 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-&gt; only 22% combined.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small Champion segment (~8%) represent the 3-5% who actually return in cohort analysis</a:t>
            </a:r>
          </a:p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This Confirm: The cohort churn pattern is not just about timing - it's about fundamental customer behavior where the majority are one-time buyers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30B71-B571-4906-BFCB-9CB8F4675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876300"/>
            <a:ext cx="7811237" cy="3660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DED843-51CA-42EE-866E-BEAFC3586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873332"/>
            <a:ext cx="7604944" cy="36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0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600200" y="-236402"/>
            <a:ext cx="13487400" cy="884102"/>
          </a:xfrm>
          <a:prstGeom prst="rect">
            <a:avLst/>
          </a:prstGeom>
        </p:spPr>
        <p:txBody>
          <a:bodyPr vert="horz" wrap="square" lIns="0" tIns="114314" rIns="0" bIns="0" rtlCol="0">
            <a:spAutoFit/>
          </a:bodyPr>
          <a:lstStyle/>
          <a:p>
            <a:pPr marL="6170930" marR="5080" indent="-3946525" algn="ctr">
              <a:lnSpc>
                <a:spcPts val="6900"/>
              </a:lnSpc>
              <a:spcBef>
                <a:spcPts val="259"/>
              </a:spcBef>
            </a:pPr>
            <a:r>
              <a:rPr lang="en-US" sz="3600" spc="-180" dirty="0">
                <a:latin typeface="Cambria Math" panose="02040503050406030204" pitchFamily="18" charset="0"/>
                <a:ea typeface="Cambria Math" panose="02040503050406030204" pitchFamily="18" charset="0"/>
              </a:rPr>
              <a:t>Analyzing Revenue Distribution Across RFM Segments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33" name="object 33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54918B2-0E30-4923-B641-D117C5BA0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885500"/>
            <a:ext cx="7344348" cy="3800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822F75-FD52-47EB-BFF5-FE7261F829A3}"/>
              </a:ext>
            </a:extLst>
          </p:cNvPr>
          <p:cNvSpPr txBox="1"/>
          <p:nvPr/>
        </p:nvSpPr>
        <p:spPr>
          <a:xfrm>
            <a:off x="7772401" y="683304"/>
            <a:ext cx="10515599" cy="435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l">
              <a:lnSpc>
                <a:spcPct val="125000"/>
              </a:lnSpc>
              <a:spcBef>
                <a:spcPts val="100"/>
              </a:spcBef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Retention Paradox:</a:t>
            </a:r>
          </a:p>
          <a:p>
            <a:pPr marL="12700" marR="5080" lvl="1" indent="-285750" algn="l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Champions (8% Customers) generate 16% of revenue</a:t>
            </a:r>
          </a:p>
          <a:p>
            <a:pPr marL="3429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High customers lifetime value, but we're failing to create more Champions (cohort analysis shows 95% churn).</a:t>
            </a:r>
          </a:p>
          <a:p>
            <a:pPr marR="5080" lvl="1" algn="l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 At-Risk + Hibernating + Lost (60% of customers) generate 53% of revenue</a:t>
            </a:r>
          </a:p>
          <a:p>
            <a:pPr marL="127000" marR="5080" lvl="2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business is heavily dependent on customers who already churning or inactive</a:t>
            </a:r>
          </a:p>
          <a:p>
            <a:pPr marL="127000" marR="5080" lvl="2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This explains why revenue is declining in 2024 - we're losing the customers who drive revenue</a:t>
            </a:r>
          </a:p>
          <a:p>
            <a:pPr marL="12700" marR="5080" algn="l">
              <a:lnSpc>
                <a:spcPct val="125000"/>
              </a:lnSpc>
              <a:spcBef>
                <a:spcPts val="100"/>
              </a:spcBef>
            </a:pPr>
            <a:b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BB2EB-1412-4DD3-9E33-933C31F81E06}"/>
              </a:ext>
            </a:extLst>
          </p:cNvPr>
          <p:cNvSpPr txBox="1"/>
          <p:nvPr/>
        </p:nvSpPr>
        <p:spPr>
          <a:xfrm>
            <a:off x="7772401" y="4086310"/>
            <a:ext cx="10515599" cy="520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l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3.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Revenue concentration in declining segments = unsustainable model</a:t>
            </a:r>
          </a:p>
          <a:p>
            <a:pPr marL="8001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As cohort size shrink (265 -&gt; 1 customers) and retention stays at 3-5%, the pool of "at risk" and "hibernating" customers will eventually run dry.</a:t>
            </a:r>
          </a:p>
          <a:p>
            <a:pPr marR="5080" algn="l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4.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Game-Changing Insight: Loyal Customers are Undervalued</a:t>
            </a:r>
          </a:p>
          <a:p>
            <a:pPr marL="8001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Loyal customers (16.95%/17% of revenue) match Champions (16%) in total contribution.</a:t>
            </a:r>
          </a:p>
          <a:p>
            <a:pPr marL="8001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With 1,793 Loyal vs 1031 Champions, Loyal segment has 1.7x more growth potential.</a:t>
            </a:r>
          </a:p>
          <a:p>
            <a:pPr marL="8001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Increasing Loyal customer spending by just 25% would make them the #1 revenue contributor.</a:t>
            </a:r>
          </a:p>
          <a:p>
            <a:pPr marL="800100" marR="5080" lvl="1" indent="-342900" algn="l">
              <a:lnSpc>
                <a:spcPct val="125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Strategy shift: Focus on Loyal → Champion conversion, not just creating Champions from scratch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2938B-7A1E-4C70-8BC1-806376CC5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5152699"/>
            <a:ext cx="7344348" cy="38115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4">
            <a:extLst>
              <a:ext uri="{FF2B5EF4-FFF2-40B4-BE49-F238E27FC236}">
                <a16:creationId xmlns:a16="http://schemas.microsoft.com/office/drawing/2014/main" id="{4D385270-2EE3-4692-A6B1-4F912B03FE8B}"/>
              </a:ext>
            </a:extLst>
          </p:cNvPr>
          <p:cNvSpPr/>
          <p:nvPr/>
        </p:nvSpPr>
        <p:spPr>
          <a:xfrm>
            <a:off x="1834957" y="2476500"/>
            <a:ext cx="14618083" cy="3581400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4" y="2541891"/>
                </a:lnTo>
                <a:lnTo>
                  <a:pt x="58351" y="2521650"/>
                </a:lnTo>
                <a:lnTo>
                  <a:pt x="27514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4" y="58350"/>
                </a:lnTo>
                <a:lnTo>
                  <a:pt x="58351" y="27513"/>
                </a:lnTo>
                <a:lnTo>
                  <a:pt x="97414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8" y="97413"/>
                </a:lnTo>
                <a:lnTo>
                  <a:pt x="6193673" y="112021"/>
                </a:lnTo>
                <a:lnTo>
                  <a:pt x="6193673" y="2437143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6">
            <a:extLst>
              <a:ext uri="{FF2B5EF4-FFF2-40B4-BE49-F238E27FC236}">
                <a16:creationId xmlns:a16="http://schemas.microsoft.com/office/drawing/2014/main" id="{07F1EC4A-3A6D-4332-BBC5-9D365A899A74}"/>
              </a:ext>
            </a:extLst>
          </p:cNvPr>
          <p:cNvSpPr txBox="1">
            <a:spLocks/>
          </p:cNvSpPr>
          <p:nvPr/>
        </p:nvSpPr>
        <p:spPr>
          <a:xfrm>
            <a:off x="2362200" y="2705100"/>
            <a:ext cx="13106401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l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After all of this, do you think will answers our cohort question: "Are the 3-5% who return valuable enough to retain ?“</a:t>
            </a:r>
          </a:p>
          <a:p>
            <a:pPr algn="l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Answer: Yes</a:t>
            </a:r>
          </a:p>
          <a:p>
            <a:pPr algn="l"/>
            <a:endParaRPr lang="en-US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/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Those who become Champions deliver 2.6x more revenue per customer than the average. The problem is we create too few of them.</a:t>
            </a:r>
          </a:p>
        </p:txBody>
      </p:sp>
    </p:spTree>
    <p:extLst>
      <p:ext uri="{BB962C8B-B14F-4D97-AF65-F5344CB8AC3E}">
        <p14:creationId xmlns:p14="http://schemas.microsoft.com/office/powerpoint/2010/main" val="637135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831435"/>
            <a:ext cx="8496300" cy="6678751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32520" y="295424"/>
            <a:ext cx="98228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85" dirty="0"/>
              <a:t>RECOMMENDATIONS</a:t>
            </a:r>
            <a:r>
              <a:rPr lang="en-US" sz="7200" spc="-1085" dirty="0"/>
              <a:t> - 1</a:t>
            </a:r>
            <a:endParaRPr sz="7200" dirty="0"/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EB53B740-0BCF-45E8-98EC-81B4AD2AAC6B}"/>
              </a:ext>
            </a:extLst>
          </p:cNvPr>
          <p:cNvSpPr/>
          <p:nvPr/>
        </p:nvSpPr>
        <p:spPr>
          <a:xfrm>
            <a:off x="9553516" y="1813196"/>
            <a:ext cx="8305800" cy="6696990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151-8F80-40FE-B300-D49B05177AB7}"/>
              </a:ext>
            </a:extLst>
          </p:cNvPr>
          <p:cNvSpPr txBox="1"/>
          <p:nvPr/>
        </p:nvSpPr>
        <p:spPr>
          <a:xfrm>
            <a:off x="685801" y="1943636"/>
            <a:ext cx="815339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Fix the first-month experience</a:t>
            </a:r>
          </a:p>
          <a:p>
            <a:pPr algn="l"/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Cohort analysis shows reveals a dramatic drop-off after the initial purchase.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RFM demonstrate that 60% go into hibernating/at risk/lost, that show there is no </a:t>
            </a:r>
            <a:r>
              <a:rPr lang="en-US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engangement</a:t>
            </a: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after purchase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Action: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Implement a 30-to-90 day onboarding program for new customers.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Send personalized follow-ups within 7 days of the first transaction.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Offers </a:t>
            </a:r>
            <a:r>
              <a:rPr lang="en-US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a'second</a:t>
            </a: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purchase incentive' within 14 days (data reveals most churn occurs in the first month )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Survey first-time buyers to identify friction issues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C93CC-EA8A-47E9-BE27-39F102445BAD}"/>
              </a:ext>
            </a:extLst>
          </p:cNvPr>
          <p:cNvSpPr txBox="1"/>
          <p:nvPr/>
        </p:nvSpPr>
        <p:spPr>
          <a:xfrm>
            <a:off x="9734553" y="1831435"/>
            <a:ext cx="7943214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Protect and Grow Champions</a:t>
            </a:r>
          </a:p>
          <a:p>
            <a:pPr algn="l"/>
            <a:b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Too few customers develop into champions despite their high value.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 cannot become high-value champions due to a lack of differentiated experiences and clear growth pathways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Actions: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Create VIP loyalty program for champions and loyal customers.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Provide early access to new products, exceptional savings, or customized style.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Assign </a:t>
            </a:r>
            <a:r>
              <a:rPr lang="en-US" sz="2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didcated</a:t>
            </a: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account management to the top 1031 champions.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 the buying patterns of champions vs. one-time buyers to identify ‘Champions indications’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29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" y="1831435"/>
            <a:ext cx="8496300" cy="6450374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32520" y="295424"/>
            <a:ext cx="98228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85" dirty="0"/>
              <a:t>RECOMMENDATIONS</a:t>
            </a:r>
            <a:r>
              <a:rPr lang="en-US" sz="7200" spc="-1085" dirty="0"/>
              <a:t> - 2</a:t>
            </a:r>
            <a:endParaRPr sz="7200" dirty="0"/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EB53B740-0BCF-45E8-98EC-81B4AD2AAC6B}"/>
              </a:ext>
            </a:extLst>
          </p:cNvPr>
          <p:cNvSpPr/>
          <p:nvPr/>
        </p:nvSpPr>
        <p:spPr>
          <a:xfrm>
            <a:off x="9553516" y="1818726"/>
            <a:ext cx="8305800" cy="6477728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151-8F80-40FE-B300-D49B05177AB7}"/>
              </a:ext>
            </a:extLst>
          </p:cNvPr>
          <p:cNvSpPr txBox="1"/>
          <p:nvPr/>
        </p:nvSpPr>
        <p:spPr>
          <a:xfrm>
            <a:off x="685801" y="2005191"/>
            <a:ext cx="81533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Reactivate At-</a:t>
            </a:r>
            <a:r>
              <a:rPr lang="en-US" sz="28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Risk,Lost</a:t>
            </a:r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Hibernating Customers (53% of revenue)</a:t>
            </a:r>
          </a:p>
          <a:p>
            <a:pPr algn="l"/>
            <a:b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More than half of revenue comes from customers who are already disengaged.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Without proactive retention strategies, valuable customers can disengage unnoticed, resulting in income loss.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Actions: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Create bespoke ‘we miss you’ offers to re-engage hibernating consumers.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Re-engagement program for at-risk clients includes exclusive discounts and new product releases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Segment by prior purchase category and deliver tailored product recommendations.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Reactivate consumers with a previous AOV of $100 or more (greater ROI potential)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C93CC-EA8A-47E9-BE27-39F102445BAD}"/>
              </a:ext>
            </a:extLst>
          </p:cNvPr>
          <p:cNvSpPr txBox="1"/>
          <p:nvPr/>
        </p:nvSpPr>
        <p:spPr>
          <a:xfrm>
            <a:off x="9734553" y="1990546"/>
            <a:ext cx="794321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Optimize Acquisition Strategy (Address Declining Cohort Size)</a:t>
            </a:r>
          </a:p>
          <a:p>
            <a:pPr algn="l"/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New customers acquisition dropped from 265 in January 2023 to 1 in December 2024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current acquisition technique draws low-quality leads who do not want to become repeat customers.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Strategic Shift: Prioritize Quality over Quantity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Avoid mass acquisition initiatives as they often result in dissatisfied customers rather than loyal supporters.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Target customers with champions profiles: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Higher income populations.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Fashion fanatic (social media engagement)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Previous brand references indicators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 Q4 Cohorts (Oct-Dec) which show 5% retention vs 3% average - duplicate what works</a:t>
            </a:r>
          </a:p>
        </p:txBody>
      </p:sp>
    </p:spTree>
    <p:extLst>
      <p:ext uri="{BB962C8B-B14F-4D97-AF65-F5344CB8AC3E}">
        <p14:creationId xmlns:p14="http://schemas.microsoft.com/office/powerpoint/2010/main" val="1779295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" y="1831435"/>
            <a:ext cx="8496300" cy="6568179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60600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706416" y="9720881"/>
            <a:ext cx="9525" cy="566420"/>
          </a:xfrm>
          <a:custGeom>
            <a:avLst/>
            <a:gdLst/>
            <a:ahLst/>
            <a:cxnLst/>
            <a:rect l="l" t="t" r="r" b="b"/>
            <a:pathLst>
              <a:path w="9525" h="566420">
                <a:moveTo>
                  <a:pt x="9524" y="0"/>
                </a:moveTo>
                <a:lnTo>
                  <a:pt x="9524" y="566118"/>
                </a:lnTo>
                <a:lnTo>
                  <a:pt x="0" y="566118"/>
                </a:lnTo>
                <a:lnTo>
                  <a:pt x="0" y="0"/>
                </a:lnTo>
                <a:lnTo>
                  <a:pt x="9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9256759"/>
            <a:ext cx="18297525" cy="472440"/>
            <a:chOff x="0" y="9256759"/>
            <a:chExt cx="18297525" cy="472440"/>
          </a:xfrm>
        </p:grpSpPr>
        <p:sp>
          <p:nvSpPr>
            <p:cNvPr id="9" name="object 9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232520" y="295424"/>
            <a:ext cx="98228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85" dirty="0"/>
              <a:t>RECOMMENDATIONS</a:t>
            </a:r>
            <a:r>
              <a:rPr lang="en-US" sz="7200" spc="-1085" dirty="0"/>
              <a:t> - 3</a:t>
            </a:r>
            <a:endParaRPr sz="7200" dirty="0"/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EB53B740-0BCF-45E8-98EC-81B4AD2AAC6B}"/>
              </a:ext>
            </a:extLst>
          </p:cNvPr>
          <p:cNvSpPr/>
          <p:nvPr/>
        </p:nvSpPr>
        <p:spPr>
          <a:xfrm>
            <a:off x="9553516" y="1813196"/>
            <a:ext cx="8305800" cy="6586418"/>
          </a:xfrm>
          <a:custGeom>
            <a:avLst/>
            <a:gdLst/>
            <a:ahLst/>
            <a:cxnLst/>
            <a:rect l="l" t="t" r="r" b="b"/>
            <a:pathLst>
              <a:path w="6193790" h="2549525">
                <a:moveTo>
                  <a:pt x="6056248" y="2549164"/>
                </a:moveTo>
                <a:lnTo>
                  <a:pt x="142333" y="2549164"/>
                </a:lnTo>
                <a:lnTo>
                  <a:pt x="97413" y="2541891"/>
                </a:lnTo>
                <a:lnTo>
                  <a:pt x="58350" y="2521650"/>
                </a:lnTo>
                <a:lnTo>
                  <a:pt x="27513" y="2490814"/>
                </a:lnTo>
                <a:lnTo>
                  <a:pt x="7273" y="2451750"/>
                </a:lnTo>
                <a:lnTo>
                  <a:pt x="0" y="2406831"/>
                </a:lnTo>
                <a:lnTo>
                  <a:pt x="0" y="142333"/>
                </a:lnTo>
                <a:lnTo>
                  <a:pt x="7273" y="97413"/>
                </a:lnTo>
                <a:lnTo>
                  <a:pt x="27513" y="58350"/>
                </a:lnTo>
                <a:lnTo>
                  <a:pt x="58350" y="27513"/>
                </a:lnTo>
                <a:lnTo>
                  <a:pt x="97413" y="7273"/>
                </a:lnTo>
                <a:lnTo>
                  <a:pt x="142333" y="0"/>
                </a:lnTo>
                <a:lnTo>
                  <a:pt x="6056248" y="0"/>
                </a:lnTo>
                <a:lnTo>
                  <a:pt x="6101167" y="7273"/>
                </a:lnTo>
                <a:lnTo>
                  <a:pt x="6140230" y="27513"/>
                </a:lnTo>
                <a:lnTo>
                  <a:pt x="6171067" y="58350"/>
                </a:lnTo>
                <a:lnTo>
                  <a:pt x="6191307" y="97413"/>
                </a:lnTo>
                <a:lnTo>
                  <a:pt x="6193673" y="112024"/>
                </a:lnTo>
                <a:lnTo>
                  <a:pt x="6193673" y="2437140"/>
                </a:lnTo>
                <a:lnTo>
                  <a:pt x="6171067" y="2490814"/>
                </a:lnTo>
                <a:lnTo>
                  <a:pt x="6140230" y="2521650"/>
                </a:lnTo>
                <a:lnTo>
                  <a:pt x="6101167" y="2541891"/>
                </a:lnTo>
                <a:lnTo>
                  <a:pt x="6056248" y="254916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151-8F80-40FE-B300-D49B05177AB7}"/>
              </a:ext>
            </a:extLst>
          </p:cNvPr>
          <p:cNvSpPr txBox="1"/>
          <p:nvPr/>
        </p:nvSpPr>
        <p:spPr>
          <a:xfrm>
            <a:off x="609601" y="1887386"/>
            <a:ext cx="815339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Address Q2-Q3 Seasonal Weakness</a:t>
            </a:r>
          </a:p>
          <a:p>
            <a:pPr algn="l"/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Problem: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Cohort analysis: May-Aug 2024 had the lowest retention (0.67-0.75%)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Revenue analysis: Q2-Q3 2024 experienced saw steady continuous decline.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Actions: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Investigate mid-year operational difficulties such as delivery delays, stocks-outs, and quality problems.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Launch seasonal initiatives in Q2-Q3 to address prior weakness.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Replicate Q2 2023’s success (which saw high sales growth). Analyzed that works 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Consider hosting mid-year loyalty events (summer bargains, special previews) to increase engagement.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CC93CC-EA8A-47E9-BE27-39F102445BAD}"/>
              </a:ext>
            </a:extLst>
          </p:cNvPr>
          <p:cNvSpPr txBox="1"/>
          <p:nvPr/>
        </p:nvSpPr>
        <p:spPr>
          <a:xfrm>
            <a:off x="9734809" y="1898958"/>
            <a:ext cx="794321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Laverage</a:t>
            </a:r>
            <a:r>
              <a:rPr lang="en-US" sz="32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Q4 Acquisition Strength</a:t>
            </a:r>
          </a:p>
          <a:p>
            <a:pPr algn="l"/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Q4 indicated improved retention (~5%) but revenue still declines.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Insufficient activation and engagements strategies fail to convert higher-quality Q4 customers into repeat purchases despite their great retention potential.</a:t>
            </a:r>
            <a:b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Actions: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Double focus on Q4 on marketing and devote 40% of the annual acquisition budget here.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 what differentiate Q4 customers (Christmas shoppers versus brand loyalist)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Increase Q4 engagement into Q1 with ‘New year refresh’ advertisement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Track Q4 cohorts through 2025 to evaluate if 5% retention is sustained.</a:t>
            </a:r>
          </a:p>
        </p:txBody>
      </p:sp>
    </p:spTree>
    <p:extLst>
      <p:ext uri="{BB962C8B-B14F-4D97-AF65-F5344CB8AC3E}">
        <p14:creationId xmlns:p14="http://schemas.microsoft.com/office/powerpoint/2010/main" val="1877639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538057" y="1486034"/>
            <a:ext cx="5489575" cy="6471285"/>
            <a:chOff x="11538057" y="1486034"/>
            <a:chExt cx="5489575" cy="6471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83612" y="1486083"/>
              <a:ext cx="4800599" cy="64674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902762" y="1495607"/>
              <a:ext cx="4779010" cy="0"/>
            </a:xfrm>
            <a:custGeom>
              <a:avLst/>
              <a:gdLst/>
              <a:ahLst/>
              <a:cxnLst/>
              <a:rect l="l" t="t" r="r" b="b"/>
              <a:pathLst>
                <a:path w="4779009">
                  <a:moveTo>
                    <a:pt x="0" y="0"/>
                  </a:moveTo>
                  <a:lnTo>
                    <a:pt x="477890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02762" y="7947018"/>
              <a:ext cx="4779010" cy="0"/>
            </a:xfrm>
            <a:custGeom>
              <a:avLst/>
              <a:gdLst/>
              <a:ahLst/>
              <a:cxnLst/>
              <a:rect l="l" t="t" r="r" b="b"/>
              <a:pathLst>
                <a:path w="4779009">
                  <a:moveTo>
                    <a:pt x="0" y="0"/>
                  </a:moveTo>
                  <a:lnTo>
                    <a:pt x="477890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93189" y="1486034"/>
              <a:ext cx="0" cy="6471285"/>
            </a:xfrm>
            <a:custGeom>
              <a:avLst/>
              <a:gdLst/>
              <a:ahLst/>
              <a:cxnLst/>
              <a:rect l="l" t="t" r="r" b="b"/>
              <a:pathLst>
                <a:path h="6471284">
                  <a:moveTo>
                    <a:pt x="0" y="647084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1992" y="1495559"/>
              <a:ext cx="0" cy="6461760"/>
            </a:xfrm>
            <a:custGeom>
              <a:avLst/>
              <a:gdLst/>
              <a:ahLst/>
              <a:cxnLst/>
              <a:rect l="l" t="t" r="r" b="b"/>
              <a:pathLst>
                <a:path h="6461759">
                  <a:moveTo>
                    <a:pt x="0" y="646131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47582" y="6218944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355180" y="710359"/>
                  </a:moveTo>
                  <a:lnTo>
                    <a:pt x="306984" y="707116"/>
                  </a:lnTo>
                  <a:lnTo>
                    <a:pt x="260759" y="697671"/>
                  </a:lnTo>
                  <a:lnTo>
                    <a:pt x="216927" y="682447"/>
                  </a:lnTo>
                  <a:lnTo>
                    <a:pt x="175913" y="661866"/>
                  </a:lnTo>
                  <a:lnTo>
                    <a:pt x="138140" y="636352"/>
                  </a:lnTo>
                  <a:lnTo>
                    <a:pt x="104029" y="606329"/>
                  </a:lnTo>
                  <a:lnTo>
                    <a:pt x="74006" y="572218"/>
                  </a:lnTo>
                  <a:lnTo>
                    <a:pt x="48492" y="534445"/>
                  </a:lnTo>
                  <a:lnTo>
                    <a:pt x="27911" y="493431"/>
                  </a:lnTo>
                  <a:lnTo>
                    <a:pt x="12687" y="449599"/>
                  </a:lnTo>
                  <a:lnTo>
                    <a:pt x="3242" y="403374"/>
                  </a:lnTo>
                  <a:lnTo>
                    <a:pt x="0" y="355179"/>
                  </a:lnTo>
                  <a:lnTo>
                    <a:pt x="3242" y="306983"/>
                  </a:lnTo>
                  <a:lnTo>
                    <a:pt x="12687" y="260758"/>
                  </a:lnTo>
                  <a:lnTo>
                    <a:pt x="27911" y="216927"/>
                  </a:lnTo>
                  <a:lnTo>
                    <a:pt x="48492" y="175913"/>
                  </a:lnTo>
                  <a:lnTo>
                    <a:pt x="74006" y="138139"/>
                  </a:lnTo>
                  <a:lnTo>
                    <a:pt x="104029" y="104029"/>
                  </a:lnTo>
                  <a:lnTo>
                    <a:pt x="138140" y="74006"/>
                  </a:lnTo>
                  <a:lnTo>
                    <a:pt x="175913" y="48492"/>
                  </a:lnTo>
                  <a:lnTo>
                    <a:pt x="216927" y="27911"/>
                  </a:lnTo>
                  <a:lnTo>
                    <a:pt x="260759" y="12687"/>
                  </a:lnTo>
                  <a:lnTo>
                    <a:pt x="306984" y="3242"/>
                  </a:lnTo>
                  <a:lnTo>
                    <a:pt x="355180" y="0"/>
                  </a:lnTo>
                  <a:lnTo>
                    <a:pt x="403375" y="3242"/>
                  </a:lnTo>
                  <a:lnTo>
                    <a:pt x="449600" y="12687"/>
                  </a:lnTo>
                  <a:lnTo>
                    <a:pt x="493431" y="27911"/>
                  </a:lnTo>
                  <a:lnTo>
                    <a:pt x="534445" y="48492"/>
                  </a:lnTo>
                  <a:lnTo>
                    <a:pt x="572219" y="74006"/>
                  </a:lnTo>
                  <a:lnTo>
                    <a:pt x="606329" y="104029"/>
                  </a:lnTo>
                  <a:lnTo>
                    <a:pt x="636352" y="138139"/>
                  </a:lnTo>
                  <a:lnTo>
                    <a:pt x="661866" y="175913"/>
                  </a:lnTo>
                  <a:lnTo>
                    <a:pt x="682447" y="216927"/>
                  </a:lnTo>
                  <a:lnTo>
                    <a:pt x="697671" y="260758"/>
                  </a:lnTo>
                  <a:lnTo>
                    <a:pt x="707116" y="306983"/>
                  </a:lnTo>
                  <a:lnTo>
                    <a:pt x="710358" y="355179"/>
                  </a:lnTo>
                  <a:lnTo>
                    <a:pt x="707116" y="403374"/>
                  </a:lnTo>
                  <a:lnTo>
                    <a:pt x="697671" y="449599"/>
                  </a:lnTo>
                  <a:lnTo>
                    <a:pt x="682447" y="493431"/>
                  </a:lnTo>
                  <a:lnTo>
                    <a:pt x="661866" y="534445"/>
                  </a:lnTo>
                  <a:lnTo>
                    <a:pt x="636352" y="572218"/>
                  </a:lnTo>
                  <a:lnTo>
                    <a:pt x="606329" y="606329"/>
                  </a:lnTo>
                  <a:lnTo>
                    <a:pt x="572219" y="636352"/>
                  </a:lnTo>
                  <a:lnTo>
                    <a:pt x="534445" y="661866"/>
                  </a:lnTo>
                  <a:lnTo>
                    <a:pt x="493431" y="682447"/>
                  </a:lnTo>
                  <a:lnTo>
                    <a:pt x="449600" y="697671"/>
                  </a:lnTo>
                  <a:lnTo>
                    <a:pt x="403375" y="707116"/>
                  </a:lnTo>
                  <a:lnTo>
                    <a:pt x="355180" y="710359"/>
                  </a:lnTo>
                  <a:close/>
                </a:path>
              </a:pathLst>
            </a:custGeom>
            <a:solidFill>
              <a:srgbClr val="AA1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547582" y="6218944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5">
                  <a:moveTo>
                    <a:pt x="355178" y="0"/>
                  </a:moveTo>
                  <a:lnTo>
                    <a:pt x="306982" y="3242"/>
                  </a:lnTo>
                  <a:lnTo>
                    <a:pt x="260757" y="12687"/>
                  </a:lnTo>
                  <a:lnTo>
                    <a:pt x="216926" y="27911"/>
                  </a:lnTo>
                  <a:lnTo>
                    <a:pt x="175912" y="48492"/>
                  </a:lnTo>
                  <a:lnTo>
                    <a:pt x="138139" y="74005"/>
                  </a:lnTo>
                  <a:lnTo>
                    <a:pt x="104029" y="104029"/>
                  </a:lnTo>
                  <a:lnTo>
                    <a:pt x="74005" y="138139"/>
                  </a:lnTo>
                  <a:lnTo>
                    <a:pt x="48492" y="175912"/>
                  </a:lnTo>
                  <a:lnTo>
                    <a:pt x="27911" y="216926"/>
                  </a:lnTo>
                  <a:lnTo>
                    <a:pt x="12687" y="260757"/>
                  </a:lnTo>
                  <a:lnTo>
                    <a:pt x="3242" y="306982"/>
                  </a:lnTo>
                  <a:lnTo>
                    <a:pt x="0" y="355178"/>
                  </a:lnTo>
                  <a:lnTo>
                    <a:pt x="3242" y="403373"/>
                  </a:lnTo>
                  <a:lnTo>
                    <a:pt x="12687" y="449598"/>
                  </a:lnTo>
                  <a:lnTo>
                    <a:pt x="27911" y="493429"/>
                  </a:lnTo>
                  <a:lnTo>
                    <a:pt x="48492" y="534443"/>
                  </a:lnTo>
                  <a:lnTo>
                    <a:pt x="74005" y="572217"/>
                  </a:lnTo>
                  <a:lnTo>
                    <a:pt x="104029" y="606327"/>
                  </a:lnTo>
                  <a:lnTo>
                    <a:pt x="138139" y="636350"/>
                  </a:lnTo>
                  <a:lnTo>
                    <a:pt x="175912" y="661864"/>
                  </a:lnTo>
                  <a:lnTo>
                    <a:pt x="216926" y="682444"/>
                  </a:lnTo>
                  <a:lnTo>
                    <a:pt x="260757" y="697669"/>
                  </a:lnTo>
                  <a:lnTo>
                    <a:pt x="306982" y="707114"/>
                  </a:lnTo>
                  <a:lnTo>
                    <a:pt x="355178" y="710356"/>
                  </a:lnTo>
                  <a:lnTo>
                    <a:pt x="403373" y="707114"/>
                  </a:lnTo>
                  <a:lnTo>
                    <a:pt x="449598" y="697669"/>
                  </a:lnTo>
                  <a:lnTo>
                    <a:pt x="493429" y="682444"/>
                  </a:lnTo>
                  <a:lnTo>
                    <a:pt x="534443" y="661864"/>
                  </a:lnTo>
                  <a:lnTo>
                    <a:pt x="572217" y="636350"/>
                  </a:lnTo>
                  <a:lnTo>
                    <a:pt x="606327" y="606327"/>
                  </a:lnTo>
                  <a:lnTo>
                    <a:pt x="636350" y="572217"/>
                  </a:lnTo>
                  <a:lnTo>
                    <a:pt x="661864" y="534443"/>
                  </a:lnTo>
                  <a:lnTo>
                    <a:pt x="682444" y="493429"/>
                  </a:lnTo>
                  <a:lnTo>
                    <a:pt x="697669" y="449598"/>
                  </a:lnTo>
                  <a:lnTo>
                    <a:pt x="707114" y="403373"/>
                  </a:lnTo>
                  <a:lnTo>
                    <a:pt x="710356" y="355178"/>
                  </a:lnTo>
                  <a:lnTo>
                    <a:pt x="707114" y="306982"/>
                  </a:lnTo>
                  <a:lnTo>
                    <a:pt x="697669" y="260757"/>
                  </a:lnTo>
                  <a:lnTo>
                    <a:pt x="682444" y="216926"/>
                  </a:lnTo>
                  <a:lnTo>
                    <a:pt x="661864" y="175912"/>
                  </a:lnTo>
                  <a:lnTo>
                    <a:pt x="636350" y="138139"/>
                  </a:lnTo>
                  <a:lnTo>
                    <a:pt x="606327" y="104029"/>
                  </a:lnTo>
                  <a:lnTo>
                    <a:pt x="572217" y="74005"/>
                  </a:lnTo>
                  <a:lnTo>
                    <a:pt x="534443" y="48492"/>
                  </a:lnTo>
                  <a:lnTo>
                    <a:pt x="493429" y="27911"/>
                  </a:lnTo>
                  <a:lnTo>
                    <a:pt x="449598" y="12687"/>
                  </a:lnTo>
                  <a:lnTo>
                    <a:pt x="403373" y="3242"/>
                  </a:lnTo>
                  <a:lnTo>
                    <a:pt x="35517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07335" y="2831363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4">
                  <a:moveTo>
                    <a:pt x="355179" y="710358"/>
                  </a:moveTo>
                  <a:lnTo>
                    <a:pt x="306984" y="707116"/>
                  </a:lnTo>
                  <a:lnTo>
                    <a:pt x="260759" y="697671"/>
                  </a:lnTo>
                  <a:lnTo>
                    <a:pt x="216927" y="682447"/>
                  </a:lnTo>
                  <a:lnTo>
                    <a:pt x="175913" y="661866"/>
                  </a:lnTo>
                  <a:lnTo>
                    <a:pt x="138140" y="636352"/>
                  </a:lnTo>
                  <a:lnTo>
                    <a:pt x="104029" y="606329"/>
                  </a:lnTo>
                  <a:lnTo>
                    <a:pt x="74006" y="572219"/>
                  </a:lnTo>
                  <a:lnTo>
                    <a:pt x="48492" y="534445"/>
                  </a:lnTo>
                  <a:lnTo>
                    <a:pt x="27911" y="493431"/>
                  </a:lnTo>
                  <a:lnTo>
                    <a:pt x="12687" y="449600"/>
                  </a:lnTo>
                  <a:lnTo>
                    <a:pt x="3242" y="403375"/>
                  </a:lnTo>
                  <a:lnTo>
                    <a:pt x="0" y="355179"/>
                  </a:lnTo>
                  <a:lnTo>
                    <a:pt x="3242" y="306983"/>
                  </a:lnTo>
                  <a:lnTo>
                    <a:pt x="12687" y="260758"/>
                  </a:lnTo>
                  <a:lnTo>
                    <a:pt x="27911" y="216927"/>
                  </a:lnTo>
                  <a:lnTo>
                    <a:pt x="48492" y="175913"/>
                  </a:lnTo>
                  <a:lnTo>
                    <a:pt x="74006" y="138139"/>
                  </a:lnTo>
                  <a:lnTo>
                    <a:pt x="104029" y="104029"/>
                  </a:lnTo>
                  <a:lnTo>
                    <a:pt x="138140" y="74006"/>
                  </a:lnTo>
                  <a:lnTo>
                    <a:pt x="175913" y="48492"/>
                  </a:lnTo>
                  <a:lnTo>
                    <a:pt x="216927" y="27911"/>
                  </a:lnTo>
                  <a:lnTo>
                    <a:pt x="260759" y="12687"/>
                  </a:lnTo>
                  <a:lnTo>
                    <a:pt x="306984" y="3242"/>
                  </a:lnTo>
                  <a:lnTo>
                    <a:pt x="355179" y="0"/>
                  </a:lnTo>
                  <a:lnTo>
                    <a:pt x="403375" y="3242"/>
                  </a:lnTo>
                  <a:lnTo>
                    <a:pt x="449600" y="12687"/>
                  </a:lnTo>
                  <a:lnTo>
                    <a:pt x="493431" y="27911"/>
                  </a:lnTo>
                  <a:lnTo>
                    <a:pt x="534445" y="48492"/>
                  </a:lnTo>
                  <a:lnTo>
                    <a:pt x="572219" y="74006"/>
                  </a:lnTo>
                  <a:lnTo>
                    <a:pt x="606329" y="104029"/>
                  </a:lnTo>
                  <a:lnTo>
                    <a:pt x="636353" y="138139"/>
                  </a:lnTo>
                  <a:lnTo>
                    <a:pt x="661866" y="175913"/>
                  </a:lnTo>
                  <a:lnTo>
                    <a:pt x="682447" y="216927"/>
                  </a:lnTo>
                  <a:lnTo>
                    <a:pt x="697672" y="260758"/>
                  </a:lnTo>
                  <a:lnTo>
                    <a:pt x="707117" y="306983"/>
                  </a:lnTo>
                  <a:lnTo>
                    <a:pt x="710359" y="355179"/>
                  </a:lnTo>
                  <a:lnTo>
                    <a:pt x="707117" y="403375"/>
                  </a:lnTo>
                  <a:lnTo>
                    <a:pt x="697672" y="449600"/>
                  </a:lnTo>
                  <a:lnTo>
                    <a:pt x="682447" y="493431"/>
                  </a:lnTo>
                  <a:lnTo>
                    <a:pt x="661866" y="534445"/>
                  </a:lnTo>
                  <a:lnTo>
                    <a:pt x="636353" y="572219"/>
                  </a:lnTo>
                  <a:lnTo>
                    <a:pt x="606329" y="606329"/>
                  </a:lnTo>
                  <a:lnTo>
                    <a:pt x="572219" y="636352"/>
                  </a:lnTo>
                  <a:lnTo>
                    <a:pt x="534445" y="661866"/>
                  </a:lnTo>
                  <a:lnTo>
                    <a:pt x="493431" y="682447"/>
                  </a:lnTo>
                  <a:lnTo>
                    <a:pt x="449600" y="697671"/>
                  </a:lnTo>
                  <a:lnTo>
                    <a:pt x="403375" y="707116"/>
                  </a:lnTo>
                  <a:lnTo>
                    <a:pt x="355179" y="710358"/>
                  </a:lnTo>
                  <a:close/>
                </a:path>
              </a:pathLst>
            </a:custGeom>
            <a:solidFill>
              <a:srgbClr val="FA6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07335" y="2831363"/>
              <a:ext cx="710565" cy="710565"/>
            </a:xfrm>
            <a:custGeom>
              <a:avLst/>
              <a:gdLst/>
              <a:ahLst/>
              <a:cxnLst/>
              <a:rect l="l" t="t" r="r" b="b"/>
              <a:pathLst>
                <a:path w="710565" h="710564">
                  <a:moveTo>
                    <a:pt x="355178" y="0"/>
                  </a:moveTo>
                  <a:lnTo>
                    <a:pt x="306982" y="3242"/>
                  </a:lnTo>
                  <a:lnTo>
                    <a:pt x="260757" y="12687"/>
                  </a:lnTo>
                  <a:lnTo>
                    <a:pt x="216926" y="27911"/>
                  </a:lnTo>
                  <a:lnTo>
                    <a:pt x="175912" y="48492"/>
                  </a:lnTo>
                  <a:lnTo>
                    <a:pt x="138139" y="74005"/>
                  </a:lnTo>
                  <a:lnTo>
                    <a:pt x="104029" y="104029"/>
                  </a:lnTo>
                  <a:lnTo>
                    <a:pt x="74005" y="138139"/>
                  </a:lnTo>
                  <a:lnTo>
                    <a:pt x="48492" y="175912"/>
                  </a:lnTo>
                  <a:lnTo>
                    <a:pt x="27911" y="216926"/>
                  </a:lnTo>
                  <a:lnTo>
                    <a:pt x="12687" y="260757"/>
                  </a:lnTo>
                  <a:lnTo>
                    <a:pt x="3242" y="306982"/>
                  </a:lnTo>
                  <a:lnTo>
                    <a:pt x="0" y="355178"/>
                  </a:lnTo>
                  <a:lnTo>
                    <a:pt x="3242" y="403373"/>
                  </a:lnTo>
                  <a:lnTo>
                    <a:pt x="12687" y="449598"/>
                  </a:lnTo>
                  <a:lnTo>
                    <a:pt x="27911" y="493429"/>
                  </a:lnTo>
                  <a:lnTo>
                    <a:pt x="48492" y="534443"/>
                  </a:lnTo>
                  <a:lnTo>
                    <a:pt x="74005" y="572217"/>
                  </a:lnTo>
                  <a:lnTo>
                    <a:pt x="104029" y="606327"/>
                  </a:lnTo>
                  <a:lnTo>
                    <a:pt x="138139" y="636350"/>
                  </a:lnTo>
                  <a:lnTo>
                    <a:pt x="175912" y="661864"/>
                  </a:lnTo>
                  <a:lnTo>
                    <a:pt x="216926" y="682444"/>
                  </a:lnTo>
                  <a:lnTo>
                    <a:pt x="260757" y="697669"/>
                  </a:lnTo>
                  <a:lnTo>
                    <a:pt x="306982" y="707114"/>
                  </a:lnTo>
                  <a:lnTo>
                    <a:pt x="355178" y="710356"/>
                  </a:lnTo>
                  <a:lnTo>
                    <a:pt x="403373" y="707114"/>
                  </a:lnTo>
                  <a:lnTo>
                    <a:pt x="449598" y="697669"/>
                  </a:lnTo>
                  <a:lnTo>
                    <a:pt x="493429" y="682444"/>
                  </a:lnTo>
                  <a:lnTo>
                    <a:pt x="534443" y="661864"/>
                  </a:lnTo>
                  <a:lnTo>
                    <a:pt x="572217" y="636350"/>
                  </a:lnTo>
                  <a:lnTo>
                    <a:pt x="606327" y="606327"/>
                  </a:lnTo>
                  <a:lnTo>
                    <a:pt x="636350" y="572217"/>
                  </a:lnTo>
                  <a:lnTo>
                    <a:pt x="661864" y="534443"/>
                  </a:lnTo>
                  <a:lnTo>
                    <a:pt x="682444" y="493429"/>
                  </a:lnTo>
                  <a:lnTo>
                    <a:pt x="697669" y="449598"/>
                  </a:lnTo>
                  <a:lnTo>
                    <a:pt x="707114" y="403373"/>
                  </a:lnTo>
                  <a:lnTo>
                    <a:pt x="710356" y="355178"/>
                  </a:lnTo>
                  <a:lnTo>
                    <a:pt x="707114" y="306982"/>
                  </a:lnTo>
                  <a:lnTo>
                    <a:pt x="697669" y="260757"/>
                  </a:lnTo>
                  <a:lnTo>
                    <a:pt x="682444" y="216926"/>
                  </a:lnTo>
                  <a:lnTo>
                    <a:pt x="661864" y="175912"/>
                  </a:lnTo>
                  <a:lnTo>
                    <a:pt x="636350" y="138139"/>
                  </a:lnTo>
                  <a:lnTo>
                    <a:pt x="606327" y="104029"/>
                  </a:lnTo>
                  <a:lnTo>
                    <a:pt x="572217" y="74005"/>
                  </a:lnTo>
                  <a:lnTo>
                    <a:pt x="534443" y="48492"/>
                  </a:lnTo>
                  <a:lnTo>
                    <a:pt x="493429" y="27911"/>
                  </a:lnTo>
                  <a:lnTo>
                    <a:pt x="449598" y="12687"/>
                  </a:lnTo>
                  <a:lnTo>
                    <a:pt x="403373" y="3242"/>
                  </a:lnTo>
                  <a:lnTo>
                    <a:pt x="35517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70170" y="2932696"/>
              <a:ext cx="5253355" cy="3874135"/>
            </a:xfrm>
            <a:custGeom>
              <a:avLst/>
              <a:gdLst/>
              <a:ahLst/>
              <a:cxnLst/>
              <a:rect l="l" t="t" r="r" b="b"/>
              <a:pathLst>
                <a:path w="5253355" h="3874134">
                  <a:moveTo>
                    <a:pt x="465086" y="3641382"/>
                  </a:moveTo>
                  <a:lnTo>
                    <a:pt x="401040" y="3632746"/>
                  </a:lnTo>
                  <a:lnTo>
                    <a:pt x="351142" y="3622421"/>
                  </a:lnTo>
                  <a:lnTo>
                    <a:pt x="313321" y="3608336"/>
                  </a:lnTo>
                  <a:lnTo>
                    <a:pt x="265582" y="3560597"/>
                  </a:lnTo>
                  <a:lnTo>
                    <a:pt x="251510" y="3522776"/>
                  </a:lnTo>
                  <a:lnTo>
                    <a:pt x="241185" y="3472891"/>
                  </a:lnTo>
                  <a:lnTo>
                    <a:pt x="232537" y="3408845"/>
                  </a:lnTo>
                  <a:lnTo>
                    <a:pt x="223901" y="3472891"/>
                  </a:lnTo>
                  <a:lnTo>
                    <a:pt x="213575" y="3522776"/>
                  </a:lnTo>
                  <a:lnTo>
                    <a:pt x="199491" y="3560597"/>
                  </a:lnTo>
                  <a:lnTo>
                    <a:pt x="151752" y="3608336"/>
                  </a:lnTo>
                  <a:lnTo>
                    <a:pt x="113931" y="3622421"/>
                  </a:lnTo>
                  <a:lnTo>
                    <a:pt x="64046" y="3632746"/>
                  </a:lnTo>
                  <a:lnTo>
                    <a:pt x="0" y="3641382"/>
                  </a:lnTo>
                  <a:lnTo>
                    <a:pt x="1193" y="3641534"/>
                  </a:lnTo>
                  <a:lnTo>
                    <a:pt x="64858" y="3650170"/>
                  </a:lnTo>
                  <a:lnTo>
                    <a:pt x="114477" y="3660495"/>
                  </a:lnTo>
                  <a:lnTo>
                    <a:pt x="152095" y="3674605"/>
                  </a:lnTo>
                  <a:lnTo>
                    <a:pt x="199605" y="3722370"/>
                  </a:lnTo>
                  <a:lnTo>
                    <a:pt x="213626" y="3760178"/>
                  </a:lnTo>
                  <a:lnTo>
                    <a:pt x="223913" y="3810000"/>
                  </a:lnTo>
                  <a:lnTo>
                    <a:pt x="232537" y="3873931"/>
                  </a:lnTo>
                  <a:lnTo>
                    <a:pt x="241185" y="3809885"/>
                  </a:lnTo>
                  <a:lnTo>
                    <a:pt x="251510" y="3759987"/>
                  </a:lnTo>
                  <a:lnTo>
                    <a:pt x="265582" y="3722166"/>
                  </a:lnTo>
                  <a:lnTo>
                    <a:pt x="313321" y="3674427"/>
                  </a:lnTo>
                  <a:lnTo>
                    <a:pt x="351142" y="3660356"/>
                  </a:lnTo>
                  <a:lnTo>
                    <a:pt x="401040" y="3650030"/>
                  </a:lnTo>
                  <a:lnTo>
                    <a:pt x="465086" y="3641382"/>
                  </a:lnTo>
                  <a:close/>
                </a:path>
                <a:path w="5253355" h="3874134">
                  <a:moveTo>
                    <a:pt x="5252847" y="259041"/>
                  </a:moveTo>
                  <a:lnTo>
                    <a:pt x="5184051" y="256425"/>
                  </a:lnTo>
                  <a:lnTo>
                    <a:pt x="5126761" y="251828"/>
                  </a:lnTo>
                  <a:lnTo>
                    <a:pt x="5083073" y="243459"/>
                  </a:lnTo>
                  <a:lnTo>
                    <a:pt x="5051044" y="229387"/>
                  </a:lnTo>
                  <a:lnTo>
                    <a:pt x="5061356" y="210464"/>
                  </a:lnTo>
                  <a:lnTo>
                    <a:pt x="5064633" y="205828"/>
                  </a:lnTo>
                  <a:lnTo>
                    <a:pt x="5076291" y="189293"/>
                  </a:lnTo>
                  <a:lnTo>
                    <a:pt x="5095862" y="165011"/>
                  </a:lnTo>
                  <a:lnTo>
                    <a:pt x="5120056" y="136804"/>
                  </a:lnTo>
                  <a:lnTo>
                    <a:pt x="5091849" y="161010"/>
                  </a:lnTo>
                  <a:lnTo>
                    <a:pt x="5067579" y="180568"/>
                  </a:lnTo>
                  <a:lnTo>
                    <a:pt x="5046396" y="195516"/>
                  </a:lnTo>
                  <a:lnTo>
                    <a:pt x="5027485" y="205828"/>
                  </a:lnTo>
                  <a:lnTo>
                    <a:pt x="5013401" y="173786"/>
                  </a:lnTo>
                  <a:lnTo>
                    <a:pt x="5005032" y="130098"/>
                  </a:lnTo>
                  <a:lnTo>
                    <a:pt x="5000434" y="72821"/>
                  </a:lnTo>
                  <a:lnTo>
                    <a:pt x="4997678" y="0"/>
                  </a:lnTo>
                  <a:lnTo>
                    <a:pt x="4994910" y="72821"/>
                  </a:lnTo>
                  <a:lnTo>
                    <a:pt x="4990312" y="130098"/>
                  </a:lnTo>
                  <a:lnTo>
                    <a:pt x="4981943" y="173786"/>
                  </a:lnTo>
                  <a:lnTo>
                    <a:pt x="4967871" y="205828"/>
                  </a:lnTo>
                  <a:lnTo>
                    <a:pt x="4948948" y="195516"/>
                  </a:lnTo>
                  <a:lnTo>
                    <a:pt x="4927778" y="180568"/>
                  </a:lnTo>
                  <a:lnTo>
                    <a:pt x="4903495" y="161010"/>
                  </a:lnTo>
                  <a:lnTo>
                    <a:pt x="4875301" y="136804"/>
                  </a:lnTo>
                  <a:lnTo>
                    <a:pt x="4899495" y="165011"/>
                  </a:lnTo>
                  <a:lnTo>
                    <a:pt x="4919053" y="189293"/>
                  </a:lnTo>
                  <a:lnTo>
                    <a:pt x="4934001" y="210464"/>
                  </a:lnTo>
                  <a:lnTo>
                    <a:pt x="4944313" y="229387"/>
                  </a:lnTo>
                  <a:lnTo>
                    <a:pt x="4912271" y="243459"/>
                  </a:lnTo>
                  <a:lnTo>
                    <a:pt x="4868583" y="251828"/>
                  </a:lnTo>
                  <a:lnTo>
                    <a:pt x="4811306" y="256425"/>
                  </a:lnTo>
                  <a:lnTo>
                    <a:pt x="4738497" y="259194"/>
                  </a:lnTo>
                  <a:lnTo>
                    <a:pt x="4811306" y="261950"/>
                  </a:lnTo>
                  <a:lnTo>
                    <a:pt x="4868583" y="266547"/>
                  </a:lnTo>
                  <a:lnTo>
                    <a:pt x="4912271" y="274916"/>
                  </a:lnTo>
                  <a:lnTo>
                    <a:pt x="4944313" y="289001"/>
                  </a:lnTo>
                  <a:lnTo>
                    <a:pt x="4934001" y="307911"/>
                  </a:lnTo>
                  <a:lnTo>
                    <a:pt x="4919053" y="329095"/>
                  </a:lnTo>
                  <a:lnTo>
                    <a:pt x="4899495" y="353364"/>
                  </a:lnTo>
                  <a:lnTo>
                    <a:pt x="4875301" y="381571"/>
                  </a:lnTo>
                  <a:lnTo>
                    <a:pt x="4903495" y="357378"/>
                  </a:lnTo>
                  <a:lnTo>
                    <a:pt x="4927778" y="337807"/>
                  </a:lnTo>
                  <a:lnTo>
                    <a:pt x="4948961" y="322872"/>
                  </a:lnTo>
                  <a:lnTo>
                    <a:pt x="4967871" y="312547"/>
                  </a:lnTo>
                  <a:lnTo>
                    <a:pt x="4981943" y="344589"/>
                  </a:lnTo>
                  <a:lnTo>
                    <a:pt x="4990312" y="388277"/>
                  </a:lnTo>
                  <a:lnTo>
                    <a:pt x="4994910" y="445566"/>
                  </a:lnTo>
                  <a:lnTo>
                    <a:pt x="4997526" y="514350"/>
                  </a:lnTo>
                  <a:lnTo>
                    <a:pt x="4997831" y="514350"/>
                  </a:lnTo>
                  <a:lnTo>
                    <a:pt x="5000434" y="445566"/>
                  </a:lnTo>
                  <a:lnTo>
                    <a:pt x="5005032" y="388277"/>
                  </a:lnTo>
                  <a:lnTo>
                    <a:pt x="5013401" y="344589"/>
                  </a:lnTo>
                  <a:lnTo>
                    <a:pt x="5027485" y="312547"/>
                  </a:lnTo>
                  <a:lnTo>
                    <a:pt x="5046396" y="322872"/>
                  </a:lnTo>
                  <a:lnTo>
                    <a:pt x="5067579" y="337807"/>
                  </a:lnTo>
                  <a:lnTo>
                    <a:pt x="5091849" y="357378"/>
                  </a:lnTo>
                  <a:lnTo>
                    <a:pt x="5120056" y="381571"/>
                  </a:lnTo>
                  <a:lnTo>
                    <a:pt x="5095862" y="353364"/>
                  </a:lnTo>
                  <a:lnTo>
                    <a:pt x="5076291" y="329095"/>
                  </a:lnTo>
                  <a:lnTo>
                    <a:pt x="5064633" y="312547"/>
                  </a:lnTo>
                  <a:lnTo>
                    <a:pt x="5061356" y="307911"/>
                  </a:lnTo>
                  <a:lnTo>
                    <a:pt x="5083073" y="274916"/>
                  </a:lnTo>
                  <a:lnTo>
                    <a:pt x="5126761" y="266547"/>
                  </a:lnTo>
                  <a:lnTo>
                    <a:pt x="5184051" y="261950"/>
                  </a:lnTo>
                  <a:lnTo>
                    <a:pt x="5252847" y="259346"/>
                  </a:lnTo>
                  <a:lnTo>
                    <a:pt x="5252847" y="259041"/>
                  </a:lnTo>
                  <a:close/>
                </a:path>
              </a:pathLst>
            </a:custGeom>
            <a:solidFill>
              <a:srgbClr val="040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57605" y="2000328"/>
            <a:ext cx="7188834" cy="4910455"/>
          </a:xfrm>
          <a:prstGeom prst="rect">
            <a:avLst/>
          </a:prstGeom>
        </p:spPr>
        <p:txBody>
          <a:bodyPr vert="horz" wrap="square" lIns="0" tIns="457834" rIns="0" bIns="0" rtlCol="0">
            <a:spAutoFit/>
          </a:bodyPr>
          <a:lstStyle/>
          <a:p>
            <a:pPr marL="12700" marR="5080">
              <a:lnSpc>
                <a:spcPts val="17480"/>
              </a:lnSpc>
              <a:spcBef>
                <a:spcPts val="3604"/>
              </a:spcBef>
            </a:pPr>
            <a:r>
              <a:rPr sz="17450" spc="-2750" dirty="0">
                <a:solidFill>
                  <a:srgbClr val="040505"/>
                </a:solidFill>
                <a:latin typeface="Arial Black"/>
                <a:cs typeface="Arial Black"/>
              </a:rPr>
              <a:t>THANK </a:t>
            </a:r>
            <a:r>
              <a:rPr sz="17450" spc="-2285" dirty="0">
                <a:solidFill>
                  <a:srgbClr val="040505"/>
                </a:solidFill>
                <a:latin typeface="Arial Black"/>
                <a:cs typeface="Arial Black"/>
              </a:rPr>
              <a:t>YOU!</a:t>
            </a:r>
            <a:endParaRPr sz="17450">
              <a:latin typeface="Arial Black"/>
              <a:cs typeface="Arial Blac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75067" y="2121336"/>
            <a:ext cx="9005570" cy="0"/>
          </a:xfrm>
          <a:custGeom>
            <a:avLst/>
            <a:gdLst/>
            <a:ahLst/>
            <a:cxnLst/>
            <a:rect l="l" t="t" r="r" b="b"/>
            <a:pathLst>
              <a:path w="9005570">
                <a:moveTo>
                  <a:pt x="0" y="0"/>
                </a:moveTo>
                <a:lnTo>
                  <a:pt x="900545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75067" y="7296363"/>
            <a:ext cx="9005570" cy="0"/>
          </a:xfrm>
          <a:custGeom>
            <a:avLst/>
            <a:gdLst/>
            <a:ahLst/>
            <a:cxnLst/>
            <a:rect l="l" t="t" r="r" b="b"/>
            <a:pathLst>
              <a:path w="9005570">
                <a:moveTo>
                  <a:pt x="0" y="0"/>
                </a:moveTo>
                <a:lnTo>
                  <a:pt x="900545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415950" y="1975700"/>
            <a:ext cx="697230" cy="292100"/>
            <a:chOff x="10415950" y="1975700"/>
            <a:chExt cx="697230" cy="292100"/>
          </a:xfrm>
        </p:grpSpPr>
        <p:sp>
          <p:nvSpPr>
            <p:cNvPr id="17" name="object 17"/>
            <p:cNvSpPr/>
            <p:nvPr/>
          </p:nvSpPr>
          <p:spPr>
            <a:xfrm>
              <a:off x="10425475" y="1985225"/>
              <a:ext cx="311785" cy="273050"/>
            </a:xfrm>
            <a:custGeom>
              <a:avLst/>
              <a:gdLst/>
              <a:ahLst/>
              <a:cxnLst/>
              <a:rect l="l" t="t" r="r" b="b"/>
              <a:pathLst>
                <a:path w="311784" h="273050">
                  <a:moveTo>
                    <a:pt x="155802" y="272652"/>
                  </a:moveTo>
                  <a:lnTo>
                    <a:pt x="0" y="0"/>
                  </a:lnTo>
                  <a:lnTo>
                    <a:pt x="311603" y="0"/>
                  </a:lnTo>
                  <a:lnTo>
                    <a:pt x="155801" y="2726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91747" y="1985225"/>
              <a:ext cx="311785" cy="273050"/>
            </a:xfrm>
            <a:custGeom>
              <a:avLst/>
              <a:gdLst/>
              <a:ahLst/>
              <a:cxnLst/>
              <a:rect l="l" t="t" r="r" b="b"/>
              <a:pathLst>
                <a:path w="311784" h="273050">
                  <a:moveTo>
                    <a:pt x="155801" y="0"/>
                  </a:moveTo>
                  <a:lnTo>
                    <a:pt x="311603" y="272653"/>
                  </a:lnTo>
                  <a:lnTo>
                    <a:pt x="0" y="272653"/>
                  </a:lnTo>
                  <a:lnTo>
                    <a:pt x="155801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415950" y="7151128"/>
            <a:ext cx="697230" cy="292100"/>
            <a:chOff x="10415950" y="7151128"/>
            <a:chExt cx="697230" cy="292100"/>
          </a:xfrm>
        </p:grpSpPr>
        <p:sp>
          <p:nvSpPr>
            <p:cNvPr id="20" name="object 20"/>
            <p:cNvSpPr/>
            <p:nvPr/>
          </p:nvSpPr>
          <p:spPr>
            <a:xfrm>
              <a:off x="10425475" y="7160653"/>
              <a:ext cx="311785" cy="273050"/>
            </a:xfrm>
            <a:custGeom>
              <a:avLst/>
              <a:gdLst/>
              <a:ahLst/>
              <a:cxnLst/>
              <a:rect l="l" t="t" r="r" b="b"/>
              <a:pathLst>
                <a:path w="311784" h="273050">
                  <a:moveTo>
                    <a:pt x="155801" y="0"/>
                  </a:moveTo>
                  <a:lnTo>
                    <a:pt x="311603" y="272653"/>
                  </a:lnTo>
                  <a:lnTo>
                    <a:pt x="0" y="272653"/>
                  </a:lnTo>
                  <a:lnTo>
                    <a:pt x="155801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91746" y="7160653"/>
              <a:ext cx="311785" cy="273050"/>
            </a:xfrm>
            <a:custGeom>
              <a:avLst/>
              <a:gdLst/>
              <a:ahLst/>
              <a:cxnLst/>
              <a:rect l="l" t="t" r="r" b="b"/>
              <a:pathLst>
                <a:path w="311784" h="273050">
                  <a:moveTo>
                    <a:pt x="155802" y="272652"/>
                  </a:moveTo>
                  <a:lnTo>
                    <a:pt x="0" y="0"/>
                  </a:lnTo>
                  <a:lnTo>
                    <a:pt x="311603" y="0"/>
                  </a:lnTo>
                  <a:lnTo>
                    <a:pt x="155802" y="2726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57605" y="1568040"/>
            <a:ext cx="407639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latin typeface="Courier New"/>
                <a:cs typeface="Courier New"/>
              </a:rPr>
              <a:t>Retail Fashion Company</a:t>
            </a:r>
            <a:endParaRPr sz="2200" dirty="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9256759"/>
            <a:ext cx="18297525" cy="1030605"/>
            <a:chOff x="0" y="9256759"/>
            <a:chExt cx="18297525" cy="1030605"/>
          </a:xfrm>
        </p:grpSpPr>
        <p:sp>
          <p:nvSpPr>
            <p:cNvPr id="24" name="object 24"/>
            <p:cNvSpPr/>
            <p:nvPr/>
          </p:nvSpPr>
          <p:spPr>
            <a:xfrm>
              <a:off x="4260596" y="9720884"/>
              <a:ext cx="9455785" cy="566420"/>
            </a:xfrm>
            <a:custGeom>
              <a:avLst/>
              <a:gdLst/>
              <a:ahLst/>
              <a:cxnLst/>
              <a:rect l="l" t="t" r="r" b="b"/>
              <a:pathLst>
                <a:path w="9455785" h="566420">
                  <a:moveTo>
                    <a:pt x="9525" y="0"/>
                  </a:moveTo>
                  <a:lnTo>
                    <a:pt x="0" y="0"/>
                  </a:lnTo>
                  <a:lnTo>
                    <a:pt x="0" y="566115"/>
                  </a:lnTo>
                  <a:lnTo>
                    <a:pt x="9525" y="566115"/>
                  </a:lnTo>
                  <a:lnTo>
                    <a:pt x="9525" y="0"/>
                  </a:lnTo>
                  <a:close/>
                </a:path>
                <a:path w="9455785" h="566420">
                  <a:moveTo>
                    <a:pt x="9455340" y="0"/>
                  </a:moveTo>
                  <a:lnTo>
                    <a:pt x="9445815" y="0"/>
                  </a:lnTo>
                  <a:lnTo>
                    <a:pt x="9445815" y="566115"/>
                  </a:lnTo>
                  <a:lnTo>
                    <a:pt x="9455340" y="566115"/>
                  </a:lnTo>
                  <a:lnTo>
                    <a:pt x="9455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0" y="453314"/>
                  </a:moveTo>
                  <a:lnTo>
                    <a:pt x="9143998" y="453314"/>
                  </a:lnTo>
                  <a:lnTo>
                    <a:pt x="9143998" y="0"/>
                  </a:lnTo>
                  <a:lnTo>
                    <a:pt x="0" y="0"/>
                  </a:lnTo>
                  <a:lnTo>
                    <a:pt x="0" y="453314"/>
                  </a:lnTo>
                  <a:close/>
                </a:path>
              </a:pathLst>
            </a:custGeom>
            <a:solidFill>
              <a:srgbClr val="FF8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9266284"/>
              <a:ext cx="9182735" cy="453390"/>
            </a:xfrm>
            <a:custGeom>
              <a:avLst/>
              <a:gdLst/>
              <a:ahLst/>
              <a:cxnLst/>
              <a:rect l="l" t="t" r="r" b="b"/>
              <a:pathLst>
                <a:path w="9182735" h="453390">
                  <a:moveTo>
                    <a:pt x="0" y="0"/>
                  </a:moveTo>
                  <a:lnTo>
                    <a:pt x="9182738" y="0"/>
                  </a:lnTo>
                </a:path>
                <a:path w="9182735" h="453390">
                  <a:moveTo>
                    <a:pt x="9182738" y="453181"/>
                  </a:moveTo>
                  <a:lnTo>
                    <a:pt x="0" y="4531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43999" y="9266284"/>
              <a:ext cx="9144000" cy="453390"/>
            </a:xfrm>
            <a:custGeom>
              <a:avLst/>
              <a:gdLst/>
              <a:ahLst/>
              <a:cxnLst/>
              <a:rect l="l" t="t" r="r" b="b"/>
              <a:pathLst>
                <a:path w="9144000" h="453390">
                  <a:moveTo>
                    <a:pt x="9143999" y="453314"/>
                  </a:moveTo>
                  <a:lnTo>
                    <a:pt x="0" y="45331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53314"/>
                  </a:lnTo>
                  <a:close/>
                </a:path>
              </a:pathLst>
            </a:custGeom>
            <a:solidFill>
              <a:srgbClr val="457E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45408" y="9266284"/>
              <a:ext cx="9142730" cy="453390"/>
            </a:xfrm>
            <a:custGeom>
              <a:avLst/>
              <a:gdLst/>
              <a:ahLst/>
              <a:cxnLst/>
              <a:rect l="l" t="t" r="r" b="b"/>
              <a:pathLst>
                <a:path w="9142729" h="453390">
                  <a:moveTo>
                    <a:pt x="9142590" y="453181"/>
                  </a:moveTo>
                  <a:lnTo>
                    <a:pt x="0" y="453181"/>
                  </a:lnTo>
                  <a:lnTo>
                    <a:pt x="0" y="0"/>
                  </a:lnTo>
                  <a:lnTo>
                    <a:pt x="914259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Words>1901</Words>
  <Application>Microsoft Office PowerPoint</Application>
  <PresentationFormat>Custom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Black</vt:lpstr>
      <vt:lpstr>Arial MT</vt:lpstr>
      <vt:lpstr>Cambria</vt:lpstr>
      <vt:lpstr>Cambria Math</vt:lpstr>
      <vt:lpstr>consolas</vt:lpstr>
      <vt:lpstr>Courier New</vt:lpstr>
      <vt:lpstr>Lucida Sans Unicode</vt:lpstr>
      <vt:lpstr>Office Theme</vt:lpstr>
      <vt:lpstr>Retail Fashion Company</vt:lpstr>
      <vt:lpstr>Project Overview</vt:lpstr>
      <vt:lpstr>Project Overview</vt:lpstr>
      <vt:lpstr>BUSINESS PROBLEM</vt:lpstr>
      <vt:lpstr>Problem Statement</vt:lpstr>
      <vt:lpstr>Methodology</vt:lpstr>
      <vt:lpstr>Appendix : Data Gathering, Cleaning and Clustering</vt:lpstr>
      <vt:lpstr>Cohort Retention Analysis – to understanding  WHEN Customer  Churn</vt:lpstr>
      <vt:lpstr>Customer Segmentation Using RFM Analysis - Understanding WHO our valuable Customers Are</vt:lpstr>
      <vt:lpstr>PowerPoint Presentation</vt:lpstr>
      <vt:lpstr>PowerPoint Presentation</vt:lpstr>
      <vt:lpstr>Quaterly revenue trends for 2023 to 2024</vt:lpstr>
      <vt:lpstr>Distribution of Customer after we do segmentation using RFM</vt:lpstr>
      <vt:lpstr>Analyzing Revenue Distribution Across RFM Segments</vt:lpstr>
      <vt:lpstr>PowerPoint Presentation</vt:lpstr>
      <vt:lpstr>RECOMMENDATIONS - 1</vt:lpstr>
      <vt:lpstr>RECOMMENDATIONS - 2</vt:lpstr>
      <vt:lpstr>RECOMMENDATIONS - 3</vt:lpstr>
      <vt:lpstr>Retail Fashion Company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PeopleU_Sales Funnel Analysis</dc:title>
  <dc:creator>Zahra Nissa Qoirina Risandy</dc:creator>
  <cp:keywords>DAGA3-Mck6M,BAF-_S8xPGo</cp:keywords>
  <cp:lastModifiedBy>Faraj Hafidh</cp:lastModifiedBy>
  <cp:revision>32</cp:revision>
  <dcterms:created xsi:type="dcterms:W3CDTF">2026-01-13T14:52:59Z</dcterms:created>
  <dcterms:modified xsi:type="dcterms:W3CDTF">2026-01-15T02:51:08Z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2024-03-31T00:00:00Z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2026-01-13T00:00:00Z</vt:filetime>
  </property>
  <property fmtid="{D5CDD505-2E9C-101B-9397-08002B2CF9AE}" pid="5" name="Producer">
    <vt:lpwstr>Canva</vt:lpwstr>
  </property>
</Properties>
</file>